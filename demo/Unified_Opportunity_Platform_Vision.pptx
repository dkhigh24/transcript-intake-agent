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96012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"/>
            <a:ext cx="11274552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B9C4D1"/>
                </a:solidFill>
              </a:rPr>
              <a:t>Eureka®, nLight®, Atrius®, Distech Controls:  Acuity Inc. — Corporate Headquarters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47A8BD"/>
                </a:solidFill>
              </a:rPr>
              <a:t>Enterprise AI &amp; Opportunity Intake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74552" cy="1737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>
                <a:solidFill>
                  <a:srgbClr val="FFFFFF"/>
                </a:solidFill>
              </a:rPr>
              <a:t>One Engine, Every Opportunity</a:t>
            </a:r>
          </a:p>
          <a:p>
            <a:pPr algn="l"/>
            <a:r>
              <a:rPr sz="2000" b="0">
                <a:solidFill>
                  <a:srgbClr val="E8A838"/>
                </a:solidFill>
              </a:rPr>
              <a:t>Scaling the AI Intake Agent into a shared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127455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>
                <a:solidFill>
                  <a:srgbClr val="B9C4D1"/>
                </a:solidFill>
              </a:rPr>
              <a:t>AI Opportunities  -  Process Improvement  -  PMO  -  Sales</a:t>
            </a:r>
          </a:p>
          <a:p>
            <a:r>
              <a:rPr sz="6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400">
                <a:solidFill>
                  <a:srgbClr val="B9C4D1"/>
                </a:solidFill>
              </a:rPr>
              <a:t>What it is  -  What unifies it  -  What we need from you  - 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6B7A8D"/>
                </a:solidFill>
              </a:rPr>
              <a:t>Presented by David High (DK High)  -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We'll Cover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A simple walk from today's tool to the bigger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1554480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Where We Are Today   -   A working AI opportunity intake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554480"/>
            <a:ext cx="3291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Where We Are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21408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2121408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The Bigger Idea   -   One engine, many business areas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121408"/>
            <a:ext cx="3291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The Bigger 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88336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688336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How It Works   -   Read, extract, classify, review,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2688336"/>
            <a:ext cx="3291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How It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55264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3255264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What Unifies It   -   Shared backbone, your own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3255264"/>
            <a:ext cx="3291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What Unifies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22192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3822192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The Data Picture   -   Merge opportunities to find relationships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3822192"/>
            <a:ext cx="3291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The Data Picture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89120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4389120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The Feedback Loop   -   It personalizes to your team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4389120"/>
            <a:ext cx="3291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The Feedback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956048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4956048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What We Need From You   -   Define your context, assign a reviewer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4956048"/>
            <a:ext cx="3291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What We Need From You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22976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5880" y="5522976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Roadmap   -   From AI today to PMO and Sales later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5522976"/>
            <a:ext cx="3291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Roadmap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5430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47A8BD"/>
                </a:solidFill>
              </a:rPr>
              <a:t>PART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4303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Where we are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Where We Are Today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A working pipeline, live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We built a pipeline that turns meeting transcripts into structured, reviewable AI opportunities - with a human approving every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6118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611880" cy="109728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2651760"/>
            <a:ext cx="328269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182112"/>
            <a:ext cx="3282696" cy="2331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Reads transcripts automatically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Finds real opportunities with evidence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Classifies them into a shared framework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Live for the Electronics AI Working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468880"/>
            <a:ext cx="36118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468880"/>
            <a:ext cx="3611880" cy="10972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9432" y="2651760"/>
            <a:ext cx="328269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It's governed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9432" y="3182112"/>
            <a:ext cx="3282696" cy="2331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Everything is draft-only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Nothing is published without human review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Evidence kept: speaker, timestamp, quote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Safe by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468880"/>
            <a:ext cx="36118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468880"/>
            <a:ext cx="3611880" cy="109728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4192" y="2651760"/>
            <a:ext cx="328269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It's tracked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3182112"/>
            <a:ext cx="3282696" cy="2331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Reports weekly and monthly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Pushes approved items to Azure DevOps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Syncs live status back into reports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Answers 'where are we at with X?'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97880"/>
            <a:ext cx="10908792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Today it serves one domain - AI opportunities. The same engine can serve many.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The Bigger Idea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One core engine, tailored per business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We don't rebuild for each team. We reuse one pipeline and plug in a 'config pack' that fits each area's language and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90879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CORE ENGINE (shared):  Read  &gt;  Extract  &gt;  Classify  &gt;  Review  &gt; 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2606040" cy="1097280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49040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87952"/>
            <a:ext cx="26060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Live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3566160"/>
            <a:ext cx="2606040" cy="10972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3749040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Process Improvement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4187952"/>
            <a:ext cx="26060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3566160"/>
            <a:ext cx="2606040" cy="109728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3749040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4187952"/>
            <a:ext cx="26060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1976" y="3566160"/>
            <a:ext cx="2606040" cy="109728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3749040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4187952"/>
            <a:ext cx="26060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10908792" cy="73152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Build once, reuse everywhere. Each area changes the vocabulary - not the engine.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5430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47A8BD"/>
                </a:solidFill>
              </a:rPr>
              <a:t>PART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4303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How it works &amp; what unifies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How It Works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The same five steps for every business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2057400" cy="109728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98064"/>
            <a:ext cx="2057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Source material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2624328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862072" y="2194560"/>
            <a:ext cx="2057400" cy="10972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862072" y="237744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2072" y="2798064"/>
            <a:ext cx="2057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Find the real opportunities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19472" y="2624328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2194560"/>
            <a:ext cx="2057400" cy="10972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237744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Classify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2798064"/>
            <a:ext cx="2057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Map to your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1464" y="2624328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2194560"/>
            <a:ext cx="2057400" cy="1097280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237744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06056" y="2798064"/>
            <a:ext cx="2057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Human approves - never automatic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3456" y="2624328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8048" y="2194560"/>
            <a:ext cx="2057400" cy="109728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528048" y="237744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8048" y="2798064"/>
            <a:ext cx="2057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Portfolio + 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749039"/>
            <a:ext cx="5394960" cy="10972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" y="3931919"/>
            <a:ext cx="506577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Deterministic where it should 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4462271"/>
            <a:ext cx="5065776" cy="1234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Reading, cleaning, validating, reporting is plain code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Reproducible, fast, and free to run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Same reliable backbone for every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49039"/>
            <a:ext cx="5330952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49039"/>
            <a:ext cx="5330952" cy="10972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2512" y="3931919"/>
            <a:ext cx="500176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AI only where it adds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4462271"/>
            <a:ext cx="5001768" cy="1234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Understands language to find real opportunities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Fills in the classification with nuance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Always draft-only, always reviewed by a person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Unifies Every Area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Your language on top of one shared backbone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949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94960" cy="109728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737360"/>
            <a:ext cx="506577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Shared backbone (the same everywhere)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2267712"/>
            <a:ext cx="5065776" cy="3337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>
                <a:solidFill>
                  <a:srgbClr val="2C3E50"/>
                </a:solidFill>
              </a:rPr>
              <a:t>•  Same evidence-based intake method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Same scoring and governance guardrails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Same human-review workflow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Same portfolio reporting structure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Result: leadership gets one comparable view across the enterprise.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330952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30952" cy="10972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2512" y="1737360"/>
            <a:ext cx="500176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Your configuration (unique per area)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2267712"/>
            <a:ext cx="5001768" cy="3337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>
                <a:solidFill>
                  <a:srgbClr val="2C3E50"/>
                </a:solidFill>
              </a:rPr>
              <a:t>•  Your process stages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Your subordinate functions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Your ownership roles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Your priority signals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 Example: Product Vitality already exists as a workstream - it just needs its own process stages. Process Improvement needs its own config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Data Picture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Separate intakes, one unified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Each area keeps its own list. Underneath, shared dimensions let us merge them to find relationships, dependencies, and duplicates.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338328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383280" cy="10972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2377440"/>
            <a:ext cx="305409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907792"/>
            <a:ext cx="3054096" cy="1325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One record per opportunity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Evidence + classification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Owner, team,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94560"/>
            <a:ext cx="338328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2194560"/>
            <a:ext cx="3383280" cy="10972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377440"/>
            <a:ext cx="305409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Process Improvements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907792"/>
            <a:ext cx="3054096" cy="1325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One record per improvement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Same shape, different domain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Owner, team,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194560"/>
            <a:ext cx="3776472" cy="2194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Unified Model</a:t>
            </a:r>
          </a:p>
          <a:p>
            <a:pPr algn="ctr"/>
            <a:r>
              <a:rPr sz="1200" b="1">
                <a:solidFill>
                  <a:srgbClr val="47A8BD"/>
                </a:solidFill>
              </a:rPr>
              <a:t>Shared dimensions: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Workstream - Stage - Function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Owner - Team -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908792" cy="10058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This is how we break down silos: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surface cross-functional relationships and recommend where work connects.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5430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47A8BD"/>
                </a:solidFill>
              </a:rPr>
              <a:t>PART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4303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Why it gets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Feedback Loop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It gets more accurate the more you use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2606040" cy="1188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Reviewer corrects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Fixes class, stage, owner, next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2651760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0712" y="2194560"/>
            <a:ext cx="2606040" cy="118872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2377440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Captured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2816352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Corrections are recorded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6752" y="2651760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2194560"/>
            <a:ext cx="2606040" cy="118872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2377440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Promoted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2816352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Rolled into your config &amp;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87384" y="2651760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2194560"/>
            <a:ext cx="2606040" cy="1188720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2377440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Personalized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2816352"/>
            <a:ext cx="26060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Output fits how your team 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10908792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10908792" cy="109728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343400"/>
            <a:ext cx="10360152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>
                <a:solidFill>
                  <a:srgbClr val="2C3E50"/>
                </a:solidFill>
              </a:rPr>
              <a:t>•  More accurate classifications over time</a:t>
            </a:r>
          </a:p>
          <a:p>
            <a:r>
              <a:rPr sz="4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400">
                <a:solidFill>
                  <a:srgbClr val="2C3E50"/>
                </a:solidFill>
              </a:rPr>
              <a:t>•  Faster reviews as the system learns your patterns</a:t>
            </a:r>
          </a:p>
          <a:p>
            <a:r>
              <a:rPr sz="4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400">
                <a:solidFill>
                  <a:srgbClr val="2C3E50"/>
                </a:solidFill>
              </a:rPr>
              <a:t>•  Output that increasingly reflects your team's real language and priorities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5430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47A8BD"/>
                </a:solidFill>
              </a:rPr>
              <a:t>PART 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4303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What we need &amp; the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We Need From You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A small investment to make your area accurate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737360"/>
            <a:ext cx="31089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F3864"/>
                </a:solidFill>
              </a:rPr>
              <a:t>A context owner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737360"/>
            <a:ext cx="688543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C3E50"/>
                </a:solidFill>
              </a:rPr>
              <a:t>Someone who knows your area to define stages, functions, roles, and priority signals.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651760"/>
            <a:ext cx="31089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F3864"/>
                </a:solidFill>
              </a:rPr>
              <a:t>A reviewer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651760"/>
            <a:ext cx="688543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C3E50"/>
                </a:solidFill>
              </a:rPr>
              <a:t>Validates output and feeds corrections back into the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3566160"/>
            <a:ext cx="31089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F3864"/>
                </a:solidFill>
              </a:rPr>
              <a:t>Source material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566160"/>
            <a:ext cx="688543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C3E50"/>
                </a:solidFill>
              </a:rPr>
              <a:t>Transcripts, notes, or intake lists we can pilot with.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548640" cy="5486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4480560"/>
            <a:ext cx="31089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F3864"/>
                </a:solidFill>
              </a:rPr>
              <a:t>A pilot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480560"/>
            <a:ext cx="688543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C3E50"/>
                </a:solidFill>
              </a:rPr>
              <a:t>Pick one workflow to prove value before scaling.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 few hours of your team's context up front - then the system does the heavy lifting.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Roadmap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From AI today to an enterprise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280160" cy="603504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554480"/>
            <a:ext cx="3840480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AI Opportunities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554480"/>
            <a:ext cx="5513832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Electronics AI Working Group running weekly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95728"/>
            <a:ext cx="1280160" cy="6035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395728"/>
            <a:ext cx="3840480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Workstream-specific stages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395728"/>
            <a:ext cx="5513832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Start with Product Vitality stage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36976"/>
            <a:ext cx="1280160" cy="6035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3236976"/>
            <a:ext cx="3840480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Process Improvement pack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236976"/>
            <a:ext cx="5513832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Add the BPI config set and 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78224"/>
            <a:ext cx="1280160" cy="603504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4078224"/>
            <a:ext cx="3840480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Relationship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078224"/>
            <a:ext cx="5513832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Connect opportunities, recommend cross-functional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19472"/>
            <a:ext cx="1280160" cy="603504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4919472"/>
            <a:ext cx="3840480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PMO, Sales, and beyond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919472"/>
            <a:ext cx="5513832" cy="6035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Onboard new areas through config, not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054303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Why It Matters &amp; 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468880"/>
            <a:ext cx="10543032" cy="2468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>
                <a:solidFill>
                  <a:srgbClr val="B9C4D1"/>
                </a:solidFill>
              </a:rPr>
              <a:t>-  Less manual tracking, more visibility into what we're working on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-  Consistent governance across every business unit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-  One source of truth for 'what are we doing and where are we at?'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-  Cross-functional opportunities surface automatically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-  We have a proven engine - now we scale it through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10543032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E8A838"/>
                </a:solidFill>
              </a:rPr>
              <a:t>The ask: pick a pilot area, assign a context owner + reviewer.   -   David High (DK High)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560320"/>
            <a:ext cx="10543032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Thank you</a:t>
            </a:r>
          </a:p>
          <a:p>
            <a:pPr algn="l"/>
            <a:r>
              <a:rPr sz="2000" b="0">
                <a:solidFill>
                  <a:srgbClr val="47A8BD"/>
                </a:solidFill>
              </a:rP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