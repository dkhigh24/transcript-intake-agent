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B76020-E218-4CD9-9E1C-3265F9E1C2E9}" v="28" dt="2026-06-24T14:20:06.6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576" autoAdjust="0"/>
  </p:normalViewPr>
  <p:slideViewPr>
    <p:cSldViewPr snapToGrid="0" snapToObjects="1">
      <p:cViewPr varScale="1">
        <p:scale>
          <a:sx n="82" d="100"/>
          <a:sy n="82" d="100"/>
        </p:scale>
        <p:origin x="167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gh, David K" userId="5e50cd30-ed06-48cc-9ef3-56cf1bec9872" providerId="ADAL" clId="{8A645E4E-3195-4253-A039-455FF14D8D8F}"/>
    <pc:docChg chg="undo custSel modSld">
      <pc:chgData name="High, David K" userId="5e50cd30-ed06-48cc-9ef3-56cf1bec9872" providerId="ADAL" clId="{8A645E4E-3195-4253-A039-455FF14D8D8F}" dt="2026-06-24T14:20:08.049" v="149" actId="5793"/>
      <pc:docMkLst>
        <pc:docMk/>
      </pc:docMkLst>
      <pc:sldChg chg="modNotesTx">
        <pc:chgData name="High, David K" userId="5e50cd30-ed06-48cc-9ef3-56cf1bec9872" providerId="ADAL" clId="{8A645E4E-3195-4253-A039-455FF14D8D8F}" dt="2026-06-24T14:00:59.673" v="68" actId="20577"/>
        <pc:sldMkLst>
          <pc:docMk/>
          <pc:sldMk cId="0" sldId="256"/>
        </pc:sldMkLst>
      </pc:sldChg>
      <pc:sldChg chg="modNotesTx">
        <pc:chgData name="High, David K" userId="5e50cd30-ed06-48cc-9ef3-56cf1bec9872" providerId="ADAL" clId="{8A645E4E-3195-4253-A039-455FF14D8D8F}" dt="2026-06-24T14:01:46.674" v="72" actId="5793"/>
        <pc:sldMkLst>
          <pc:docMk/>
          <pc:sldMk cId="0" sldId="257"/>
        </pc:sldMkLst>
      </pc:sldChg>
      <pc:sldChg chg="modNotesTx">
        <pc:chgData name="High, David K" userId="5e50cd30-ed06-48cc-9ef3-56cf1bec9872" providerId="ADAL" clId="{8A645E4E-3195-4253-A039-455FF14D8D8F}" dt="2026-06-24T14:04:20.145" v="74" actId="20577"/>
        <pc:sldMkLst>
          <pc:docMk/>
          <pc:sldMk cId="0" sldId="259"/>
        </pc:sldMkLst>
      </pc:sldChg>
      <pc:sldChg chg="modNotesTx">
        <pc:chgData name="High, David K" userId="5e50cd30-ed06-48cc-9ef3-56cf1bec9872" providerId="ADAL" clId="{8A645E4E-3195-4253-A039-455FF14D8D8F}" dt="2026-06-24T14:05:02.874" v="77" actId="20577"/>
        <pc:sldMkLst>
          <pc:docMk/>
          <pc:sldMk cId="0" sldId="260"/>
        </pc:sldMkLst>
      </pc:sldChg>
      <pc:sldChg chg="modSp mod modNotesTx">
        <pc:chgData name="High, David K" userId="5e50cd30-ed06-48cc-9ef3-56cf1bec9872" providerId="ADAL" clId="{8A645E4E-3195-4253-A039-455FF14D8D8F}" dt="2026-06-24T14:14:03.017" v="119" actId="5793"/>
        <pc:sldMkLst>
          <pc:docMk/>
          <pc:sldMk cId="0" sldId="262"/>
        </pc:sldMkLst>
        <pc:spChg chg="mod">
          <ac:chgData name="High, David K" userId="5e50cd30-ed06-48cc-9ef3-56cf1bec9872" providerId="ADAL" clId="{8A645E4E-3195-4253-A039-455FF14D8D8F}" dt="2026-06-24T14:06:06.198" v="79" actId="207"/>
          <ac:spMkLst>
            <pc:docMk/>
            <pc:sldMk cId="0" sldId="262"/>
            <ac:spMk id="9" creationId="{00000000-0000-0000-0000-000000000000}"/>
          </ac:spMkLst>
        </pc:spChg>
        <pc:spChg chg="mod">
          <ac:chgData name="High, David K" userId="5e50cd30-ed06-48cc-9ef3-56cf1bec9872" providerId="ADAL" clId="{8A645E4E-3195-4253-A039-455FF14D8D8F}" dt="2026-06-24T14:06:11.347" v="80" actId="207"/>
          <ac:spMkLst>
            <pc:docMk/>
            <pc:sldMk cId="0" sldId="262"/>
            <ac:spMk id="14" creationId="{00000000-0000-0000-0000-000000000000}"/>
          </ac:spMkLst>
        </pc:spChg>
        <pc:spChg chg="mod">
          <ac:chgData name="High, David K" userId="5e50cd30-ed06-48cc-9ef3-56cf1bec9872" providerId="ADAL" clId="{8A645E4E-3195-4253-A039-455FF14D8D8F}" dt="2026-06-24T14:06:36.903" v="98" actId="20577"/>
          <ac:spMkLst>
            <pc:docMk/>
            <pc:sldMk cId="0" sldId="262"/>
            <ac:spMk id="19" creationId="{00000000-0000-0000-0000-000000000000}"/>
          </ac:spMkLst>
        </pc:spChg>
        <pc:spChg chg="mod">
          <ac:chgData name="High, David K" userId="5e50cd30-ed06-48cc-9ef3-56cf1bec9872" providerId="ADAL" clId="{8A645E4E-3195-4253-A039-455FF14D8D8F}" dt="2026-06-24T14:06:46.359" v="116" actId="20577"/>
          <ac:spMkLst>
            <pc:docMk/>
            <pc:sldMk cId="0" sldId="262"/>
            <ac:spMk id="24" creationId="{00000000-0000-0000-0000-000000000000}"/>
          </ac:spMkLst>
        </pc:spChg>
        <pc:spChg chg="mod">
          <ac:chgData name="High, David K" userId="5e50cd30-ed06-48cc-9ef3-56cf1bec9872" providerId="ADAL" clId="{8A645E4E-3195-4253-A039-455FF14D8D8F}" dt="2026-06-24T14:06:15.690" v="81" actId="207"/>
          <ac:spMkLst>
            <pc:docMk/>
            <pc:sldMk cId="0" sldId="262"/>
            <ac:spMk id="29" creationId="{00000000-0000-0000-0000-000000000000}"/>
          </ac:spMkLst>
        </pc:spChg>
        <pc:spChg chg="mod">
          <ac:chgData name="High, David K" userId="5e50cd30-ed06-48cc-9ef3-56cf1bec9872" providerId="ADAL" clId="{8A645E4E-3195-4253-A039-455FF14D8D8F}" dt="2026-06-24T14:06:18.114" v="82" actId="207"/>
          <ac:spMkLst>
            <pc:docMk/>
            <pc:sldMk cId="0" sldId="262"/>
            <ac:spMk id="34" creationId="{00000000-0000-0000-0000-000000000000}"/>
          </ac:spMkLst>
        </pc:spChg>
        <pc:spChg chg="mod">
          <ac:chgData name="High, David K" userId="5e50cd30-ed06-48cc-9ef3-56cf1bec9872" providerId="ADAL" clId="{8A645E4E-3195-4253-A039-455FF14D8D8F}" dt="2026-06-24T14:06:21.075" v="83" actId="207"/>
          <ac:spMkLst>
            <pc:docMk/>
            <pc:sldMk cId="0" sldId="262"/>
            <ac:spMk id="39" creationId="{00000000-0000-0000-0000-000000000000}"/>
          </ac:spMkLst>
        </pc:spChg>
        <pc:spChg chg="mod">
          <ac:chgData name="High, David K" userId="5e50cd30-ed06-48cc-9ef3-56cf1bec9872" providerId="ADAL" clId="{8A645E4E-3195-4253-A039-455FF14D8D8F}" dt="2026-06-24T14:06:23.687" v="84" actId="207"/>
          <ac:spMkLst>
            <pc:docMk/>
            <pc:sldMk cId="0" sldId="262"/>
            <ac:spMk id="44" creationId="{00000000-0000-0000-0000-000000000000}"/>
          </ac:spMkLst>
        </pc:spChg>
      </pc:sldChg>
      <pc:sldChg chg="modSp mod modNotesTx">
        <pc:chgData name="High, David K" userId="5e50cd30-ed06-48cc-9ef3-56cf1bec9872" providerId="ADAL" clId="{8A645E4E-3195-4253-A039-455FF14D8D8F}" dt="2026-06-24T14:14:50.251" v="123" actId="5793"/>
        <pc:sldMkLst>
          <pc:docMk/>
          <pc:sldMk cId="0" sldId="263"/>
        </pc:sldMkLst>
        <pc:spChg chg="mod">
          <ac:chgData name="High, David K" userId="5e50cd30-ed06-48cc-9ef3-56cf1bec9872" providerId="ADAL" clId="{8A645E4E-3195-4253-A039-455FF14D8D8F}" dt="2026-06-23T20:07:53.910" v="4" actId="20577"/>
          <ac:spMkLst>
            <pc:docMk/>
            <pc:sldMk cId="0" sldId="263"/>
            <ac:spMk id="7" creationId="{00000000-0000-0000-0000-000000000000}"/>
          </ac:spMkLst>
        </pc:spChg>
        <pc:spChg chg="mod">
          <ac:chgData name="High, David K" userId="5e50cd30-ed06-48cc-9ef3-56cf1bec9872" providerId="ADAL" clId="{8A645E4E-3195-4253-A039-455FF14D8D8F}" dt="2026-06-23T20:08:02.270" v="9" actId="20577"/>
          <ac:spMkLst>
            <pc:docMk/>
            <pc:sldMk cId="0" sldId="263"/>
            <ac:spMk id="11" creationId="{00000000-0000-0000-0000-000000000000}"/>
          </ac:spMkLst>
        </pc:spChg>
      </pc:sldChg>
      <pc:sldChg chg="modNotesTx">
        <pc:chgData name="High, David K" userId="5e50cd30-ed06-48cc-9ef3-56cf1bec9872" providerId="ADAL" clId="{8A645E4E-3195-4253-A039-455FF14D8D8F}" dt="2026-06-24T14:15:51.754" v="125" actId="20577"/>
        <pc:sldMkLst>
          <pc:docMk/>
          <pc:sldMk cId="0" sldId="264"/>
        </pc:sldMkLst>
      </pc:sldChg>
      <pc:sldChg chg="modNotesTx">
        <pc:chgData name="High, David K" userId="5e50cd30-ed06-48cc-9ef3-56cf1bec9872" providerId="ADAL" clId="{8A645E4E-3195-4253-A039-455FF14D8D8F}" dt="2026-06-24T14:16:33.122" v="129" actId="5793"/>
        <pc:sldMkLst>
          <pc:docMk/>
          <pc:sldMk cId="0" sldId="265"/>
        </pc:sldMkLst>
      </pc:sldChg>
      <pc:sldChg chg="modNotesTx">
        <pc:chgData name="High, David K" userId="5e50cd30-ed06-48cc-9ef3-56cf1bec9872" providerId="ADAL" clId="{8A645E4E-3195-4253-A039-455FF14D8D8F}" dt="2026-06-24T14:17:07.908" v="133" actId="5793"/>
        <pc:sldMkLst>
          <pc:docMk/>
          <pc:sldMk cId="0" sldId="266"/>
        </pc:sldMkLst>
      </pc:sldChg>
      <pc:sldChg chg="modNotesTx">
        <pc:chgData name="High, David K" userId="5e50cd30-ed06-48cc-9ef3-56cf1bec9872" providerId="ADAL" clId="{8A645E4E-3195-4253-A039-455FF14D8D8F}" dt="2026-06-24T14:17:44.266" v="137" actId="5793"/>
        <pc:sldMkLst>
          <pc:docMk/>
          <pc:sldMk cId="0" sldId="270"/>
        </pc:sldMkLst>
      </pc:sldChg>
      <pc:sldChg chg="modNotesTx">
        <pc:chgData name="High, David K" userId="5e50cd30-ed06-48cc-9ef3-56cf1bec9872" providerId="ADAL" clId="{8A645E4E-3195-4253-A039-455FF14D8D8F}" dt="2026-06-24T14:19:00.857" v="141" actId="5793"/>
        <pc:sldMkLst>
          <pc:docMk/>
          <pc:sldMk cId="0" sldId="271"/>
        </pc:sldMkLst>
      </pc:sldChg>
      <pc:sldChg chg="modNotesTx">
        <pc:chgData name="High, David K" userId="5e50cd30-ed06-48cc-9ef3-56cf1bec9872" providerId="ADAL" clId="{8A645E4E-3195-4253-A039-455FF14D8D8F}" dt="2026-06-24T14:19:29.169" v="145" actId="5793"/>
        <pc:sldMkLst>
          <pc:docMk/>
          <pc:sldMk cId="0" sldId="272"/>
        </pc:sldMkLst>
      </pc:sldChg>
      <pc:sldChg chg="modNotesTx">
        <pc:chgData name="High, David K" userId="5e50cd30-ed06-48cc-9ef3-56cf1bec9872" providerId="ADAL" clId="{8A645E4E-3195-4253-A039-455FF14D8D8F}" dt="2026-06-24T14:20:08.049" v="149" actId="5793"/>
        <pc:sldMkLst>
          <pc:docMk/>
          <pc:sldMk cId="0" sldId="27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2A5849-EAE3-4A79-A5B5-8FB5C2FA74A7}"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3F729-9B69-4F7A-B335-A85BBAD54984}" type="slidenum">
              <a:rPr lang="en-US" smtClean="0"/>
              <a:t>‹#›</a:t>
            </a:fld>
            <a:endParaRPr lang="en-US"/>
          </a:p>
        </p:txBody>
      </p:sp>
    </p:spTree>
    <p:extLst>
      <p:ext uri="{BB962C8B-B14F-4D97-AF65-F5344CB8AC3E}">
        <p14:creationId xmlns:p14="http://schemas.microsoft.com/office/powerpoint/2010/main" val="34485494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Welcome everyone. Today I'm walking you through the AI Transcript Intake Agent - a tool I built for our Electronics AI Working Group.</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one-line version: it takes the transcript of our weekly meeting and turns it into structured, reviewable AI-opportunity records - and then tracks those opportunities all the way through to who is actually working on them.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I'll spend about 20-25 minutes: why I built it, how it works, a live demo, the time savings, and how any of your teams could use the same engine.</a:t>
            </a:r>
          </a:p>
          <a:p>
            <a:endParaRPr lang="en-US" dirty="0"/>
          </a:p>
          <a:p>
            <a:r>
              <a:rPr lang="en-US" dirty="0"/>
              <a:t>Transition: </a:t>
            </a:r>
            <a:r>
              <a:rPr lang="en-US" sz="1200" i="1" kern="1200" dirty="0">
                <a:solidFill>
                  <a:schemeClr val="tx1"/>
                </a:solidFill>
                <a:effectLst/>
                <a:latin typeface="+mn-lt"/>
                <a:ea typeface="+mn-ea"/>
                <a:cs typeface="+mn-cs"/>
              </a:rPr>
              <a:t>Let's start with the agenda so you know where we're headed.</a:t>
            </a:r>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a:t>
            </a:fld>
            <a:endParaRPr lang="en-US"/>
          </a:p>
        </p:txBody>
      </p:sp>
    </p:spTree>
    <p:extLst>
      <p:ext uri="{BB962C8B-B14F-4D97-AF65-F5344CB8AC3E}">
        <p14:creationId xmlns:p14="http://schemas.microsoft.com/office/powerpoint/2010/main" val="609525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Four parts. First, the problem - why this exists. Second, how it actually works under the hood. Third, a live demo. Fourth, the benefits and how it scales to other teams.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Hold your questions if you can until the demo and the scale section - most things will get answered along the way, but I'll leave plenty of time at the end.</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Let's start with the problem it solves.</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2</a:t>
            </a:fld>
            <a:endParaRPr lang="en-US"/>
          </a:p>
        </p:txBody>
      </p:sp>
    </p:spTree>
    <p:extLst>
      <p:ext uri="{BB962C8B-B14F-4D97-AF65-F5344CB8AC3E}">
        <p14:creationId xmlns:p14="http://schemas.microsoft.com/office/powerpoint/2010/main" val="2762968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Every week our group meets and talks about ways the business could use AI. Great conversations - but the ideas were getting lost.</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Three problems. ONE - it was manual and slow. Someone had to read the entire transcript, pull out the real opportunities by hand, and fill in about 40 fields per idea in a spreadsheet. That was roughly seven hours of work, every single week.</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TWO - it was inconsistent. Different people captured different things, used different language, and there was no shared way to classify or compare ideas week over week.</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THREE - and this is the big one - there was no follow-through. We'd capture an idea, and then it would just... sit there. Nobody knew if anyone had picked it up. 'Whatever happened to that invoice-automation idea from three weeks ago?' - blank stares.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core insight that drove the whole design is at the bottom: a transcript is the BEGINNING of the work, not the end of it. Capturing the idea is step one, not the finish line.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So here's what I built to fix that.</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4</a:t>
            </a:fld>
            <a:endParaRPr lang="en-US"/>
          </a:p>
        </p:txBody>
      </p:sp>
    </p:spTree>
    <p:extLst>
      <p:ext uri="{BB962C8B-B14F-4D97-AF65-F5344CB8AC3E}">
        <p14:creationId xmlns:p14="http://schemas.microsoft.com/office/powerpoint/2010/main" val="3199297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solution is a local agent. You drop in a meeting transcript, and you get back reviewable AI-opportunity records, trend reports, and tracked work items - with a human in the loop at every step.</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Across the top is the flow: Read the transcript, Extract the opportunities, Classify them against our framework, Report on them weekly and monthly, and Track them in Azure DevOps.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Two things make it trustworthy - left card. Full transcripts are NEVER sent to the AI model; only keyword-filtered chunks. And every AI output is draft-only - it defaults to 'Needs Review.' A human approves before anything goes anywhere official.</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Two things make it efficient - right card. Deterministic Python does all the heavy lifting, which is free and reproducible. The AI is used only for the two steps where judgement is actually needed. And it runs on our existing GitHub Copilot subscription - no new API key, no new spend.</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Let me open the hood and show you how it actually works.</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5</a:t>
            </a:fld>
            <a:endParaRPr lang="en-US"/>
          </a:p>
        </p:txBody>
      </p:sp>
    </p:spTree>
    <p:extLst>
      <p:ext uri="{BB962C8B-B14F-4D97-AF65-F5344CB8AC3E}">
        <p14:creationId xmlns:p14="http://schemas.microsoft.com/office/powerpoint/2010/main" val="23018841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This is the whole pipeline, top to bottom. The key thing to notice is the 'Type' column on the right - most steps are plain Python, and only two are AI.</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Step 0 - before anything else, it syncs live status from Azure DevOps so the reports always reflect reality. I'll come back to that.</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Steps 1 to 3 - read the Word doc, clean it, split it into speaker turns, and keyword-filter down to just the relevant chunks. All deterministic.</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Steps 4 and 5 - the gold rows - are the AI. Four extracts the actual opportunities from the filtered chunks. Five classifies each one against our 40-field framework.</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Step 5b validates everything against allowed values. Steps 6 through 11 export the workbook, the payload, the HTML reports, archive the week, and update history.</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And Step 9c - opt-in - pushes approved opportunities into Azure DevOps as tracked work items. That only runs when I explicitly ask for it.</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takeaway: the AI footprint is small and controlled. Everything around it is testable, reproducible code.</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Let me make that AI-versus-code split crystal clear.</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7</a:t>
            </a:fld>
            <a:endParaRPr lang="en-US"/>
          </a:p>
        </p:txBody>
      </p:sp>
    </p:spTree>
    <p:extLst>
      <p:ext uri="{BB962C8B-B14F-4D97-AF65-F5344CB8AC3E}">
        <p14:creationId xmlns:p14="http://schemas.microsoft.com/office/powerpoint/2010/main" val="10378099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Left side - what the AI does. Just two things. It reads the filtered chunks and asks 'is this a real AI opportunity?' Then for each one it fills in the framework fields. Small, cheap prompts - one call per chunk or per candidate. Why AI here? Because this needs judgement and language understanding that rules simply can't capture.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Right side - what Python does. Everything else: reading the document, cleaning, chunking, validation, Excel, HTML reports, history, trend analysis, deduplication, and the Azure DevOps API calls. Why Python here? Because it's reproducible, free, fast, and testable.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This split is deliberate. It keeps cost down, keeps behavior predictable, and means the AI is only ever doing the part humans are worst at - reading hours of text consistently.</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Now, what is that framework the AI classifies against?</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8</a:t>
            </a:fld>
            <a:endParaRPr lang="en-US"/>
          </a:p>
        </p:txBody>
      </p:sp>
    </p:spTree>
    <p:extLst>
      <p:ext uri="{BB962C8B-B14F-4D97-AF65-F5344CB8AC3E}">
        <p14:creationId xmlns:p14="http://schemas.microsoft.com/office/powerpoint/2010/main" val="4357154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Every opportunity gets mapped onto these consistent dimensions. This is what gives us a shared language.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AI Use Case Type - is this AI to understand the work, or to act on it? Operating Bucket - which part of the business: pre-sale, manufacturing, post-shipment, governance. Level of Analysis - a maturity ladder from a raw signal up to a release candidate.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Maturity Signal - is this aspirational, being explored, piloting, or already deployed? Signal Strength - is it one isolated example or a cross-functional, leadership-level priority? And Value, Effort, and Risk scores for prioritization.</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Here's the part that matters for scaling - and the line at the bottom: this framework is just configuration. It's a JSON file. Swap it out, and the exact same engine will classify a completely different domain. Hold that thought - I'll come back to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So what do you actually get out of it?</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9</a:t>
            </a:fld>
            <a:endParaRPr lang="en-US"/>
          </a:p>
        </p:txBody>
      </p:sp>
    </p:spTree>
    <p:extLst>
      <p:ext uri="{BB962C8B-B14F-4D97-AF65-F5344CB8AC3E}">
        <p14:creationId xmlns:p14="http://schemas.microsoft.com/office/powerpoint/2010/main" val="4050828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Everything it produces is self-contained - HTML you open in a browser, no server needed.</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weekly report has five tabs: Cards - one per opportunity with a live status chip; Analytics - charts; the Full Table - all 40 fields; Trends - what's new versus carried over; and Progress - live status from Azure DevOps. I'll show these live in a minute.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monthly rollup gives leadership the bigger picture - unique counts, what's new this month, momentum, escalations.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For review and hand-off, there's an Excel workbook, a draft SharePoint payload, and a master file that feeds Power BI - including the Azure DevOps columns.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And for the meeting itself, it even auto-generates the PowerPoint deck for the next session, built from the accumulated history rather than by hand.</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lvl="0" indent="0">
              <a:buFont typeface="Arial" panose="020B0604020202020204" pitchFamily="34" charset="0"/>
              <a:buNone/>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Now the newest and, honestly, the most important capability - closing the loop.</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10</a:t>
            </a:fld>
            <a:endParaRPr lang="en-US"/>
          </a:p>
        </p:txBody>
      </p:sp>
    </p:spTree>
    <p:extLst>
      <p:ext uri="{BB962C8B-B14F-4D97-AF65-F5344CB8AC3E}">
        <p14:creationId xmlns:p14="http://schemas.microsoft.com/office/powerpoint/2010/main" val="38522392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This is the capability I'm most excited about, and it's the answer to that 'whatever happened to that idea?' problem.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Three pieces. PUSH - opt-in. After review, I run it with a --push-ado flag, and each approved opportunity becomes a tracked Issue in Azure DevOps, with a full description - the problem, the evidence quote, the next step. It even de-duplicates by title, so it's safe to re-run.</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SYNC - automatic. Every weekly run starts by pulling live status back from Azure DevOps - To Do, Doing, Done, who it's assigned to. Important: this is read-only. It never creates or edits work items. It just reads.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SEE IT - the Progress tab. Every opportunity grouped by its current state, with items that moved in the last seven days highlighted, and direct links into Azure DevOps. That tab answers 'where are we at with X?' in one glance.</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line at the bottom is the whole point: this is the difference between a meeting note and a managed pipeline of work. We added this specifically to close the loop on where the work actually happens.</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Enough slides - let me show you the real thing.</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11</a:t>
            </a:fld>
            <a:endParaRPr lang="en-US"/>
          </a:p>
        </p:txBody>
      </p:sp>
    </p:spTree>
    <p:extLst>
      <p:ext uri="{BB962C8B-B14F-4D97-AF65-F5344CB8AC3E}">
        <p14:creationId xmlns:p14="http://schemas.microsoft.com/office/powerpoint/2010/main" val="10691338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Let's talk numbers. The headline: about 7.5 hours saved every week, an 83% reduction in manual effort, roughly 390 hours a year. At a loaded rate that's about $33,000 a year in time value - and that's a lens, not a billing claim.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It breaks into two buckets. The transcript processing itself saves about 5.8 hours a week - reading, identifying, classifying, and building the reports all collapse from hours to minutes.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Azure DevOps lifecycle adds another ~1.7 hours a week - work-item creation drops from a couple of hours per cycle to minutes, status tracking goes from an hour a week to about five minutes, and traceability lookups basically disappear.</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Two things I want to be honest about: QA and human review time is largely RETAINED - that's the judgement step and we want to keep it. And the ADO piece consumes no AI credits at all - it's a plain REST API.</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These estimates are deliberately conservative. If anything, the consistency benefit - everyone speaking the same language - is worth more than the raw hours.</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And here's why this isn't just for our team.</a:t>
            </a:r>
            <a:endParaRPr lang="en-US" sz="1200" kern="1200" dirty="0">
              <a:solidFill>
                <a:schemeClr val="tx1"/>
              </a:solidFill>
              <a:effectLst/>
              <a:latin typeface="+mn-lt"/>
              <a:ea typeface="+mn-ea"/>
              <a:cs typeface="+mn-cs"/>
            </a:endParaRPr>
          </a:p>
          <a:p>
            <a:pPr marL="0" lvl="0" indent="0">
              <a:buFont typeface="Arial" panose="020B0604020202020204" pitchFamily="34" charset="0"/>
              <a:buNone/>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15</a:t>
            </a:fld>
            <a:endParaRPr lang="en-US"/>
          </a:p>
        </p:txBody>
      </p:sp>
    </p:spTree>
    <p:extLst>
      <p:ext uri="{BB962C8B-B14F-4D97-AF65-F5344CB8AC3E}">
        <p14:creationId xmlns:p14="http://schemas.microsoft.com/office/powerpoint/2010/main" val="2118058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This is the part I want every team lead in the room to hear. The engine is domain-agnostic. Remember the framework is just config, and the extraction logic is just a short prompt file. Swap those two things, point it at different documents, and it works for a completely different team.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Sales or CX - run it on call transcripts to extract customer pain points, feature requests, and churn signals.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HR or People - interview and survey notes become themes, sentiment, and training needs.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Engineering - incident retros become action items, root causes, and recurring failure modes.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Product - user research sessions become jobs-to-be-done and prioritized asks. Legal - contract reviews surface obligations and non-standard clauses. Operations - standups surface blockers and dependencies.</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And the line at the bottom is key: everything that makes this safe and useful stays the same - the ingestion, the draft-only guardrails, the human review, the trend reporting, and the Azure DevOps loop. You're only swapping the domain knowledge, not rebuilding the machine.</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So if you're thinking 'I want this,' here's what it takes.</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16</a:t>
            </a:fld>
            <a:endParaRPr lang="en-US"/>
          </a:p>
        </p:txBody>
      </p:sp>
    </p:spTree>
    <p:extLst>
      <p:ext uri="{BB962C8B-B14F-4D97-AF65-F5344CB8AC3E}">
        <p14:creationId xmlns:p14="http://schemas.microsoft.com/office/powerpoint/2010/main" val="1721711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Five steps to stand up a new instance. One - define your framework: the dimensions and choice values for your domain, in a config file. Two - write the extraction prompt: one short file describing what an 'opportunity' looks like for you.</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Three - point it at your sources: drop your transcripts, notes, or documents into the input folder. Four - run and review: the same pipeline produces drafts, and a human reviews them. Five - wire your tracker: map the outputs to Azure DevOps, Jira, SharePoint - whatever closes your loop.</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bottom line in green: no new infrastructure. It runs locally on an existing Copilot subscription, and it's governed by human review end to end. The barrier to try it is genuinely low.</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dirty="0">
                <a:solidFill>
                  <a:schemeClr val="tx1"/>
                </a:solidFill>
                <a:effectLst/>
                <a:latin typeface="+mn-lt"/>
                <a:ea typeface="+mn-ea"/>
                <a:cs typeface="+mn-cs"/>
              </a:rPr>
              <a:t>Transition:  </a:t>
            </a:r>
            <a:r>
              <a:rPr lang="en-US" sz="1200" i="1" kern="1200" dirty="0">
                <a:solidFill>
                  <a:schemeClr val="tx1"/>
                </a:solidFill>
                <a:effectLst/>
                <a:latin typeface="+mn-lt"/>
                <a:ea typeface="+mn-ea"/>
                <a:cs typeface="+mn-cs"/>
              </a:rPr>
              <a:t>Let me wrap up.</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17</a:t>
            </a:fld>
            <a:endParaRPr lang="en-US"/>
          </a:p>
        </p:txBody>
      </p:sp>
    </p:spTree>
    <p:extLst>
      <p:ext uri="{BB962C8B-B14F-4D97-AF65-F5344CB8AC3E}">
        <p14:creationId xmlns:p14="http://schemas.microsoft.com/office/powerpoint/2010/main" val="18846366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Quick recap. It turns weekly meeting talk into structured, classified, reviewable opportunities. It saves roughly 7.5 hours a week. It closes the loop with Azure DevOps, so discussion becomes tracked execution. It's human-in-the-loop and draft-only at every step - safe by design. And it's domain-agnostic - swap the config and it serves any team.</a:t>
            </a:r>
          </a:p>
          <a:p>
            <a:pPr marL="171450" lvl="0" indent="-171450">
              <a:buFont typeface="Arial" panose="020B0604020202020204" pitchFamily="34" charset="0"/>
              <a:buChar char="•"/>
            </a:pPr>
            <a:r>
              <a:rPr lang="en-US" sz="1200" kern="1200" dirty="0">
                <a:solidFill>
                  <a:schemeClr val="tx1"/>
                </a:solidFill>
                <a:effectLst/>
                <a:latin typeface="+mn-lt"/>
                <a:ea typeface="+mn-ea"/>
                <a:cs typeface="+mn-cs"/>
              </a:rPr>
              <a:t>The ask: if any of this resonated for your team's workflow, come find me. I'd love to help you stand up an instance - the engine already exists; we just point it at your world.</a:t>
            </a: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1" kern="1200">
                <a:solidFill>
                  <a:schemeClr val="tx1"/>
                </a:solidFill>
                <a:effectLst/>
                <a:latin typeface="+mn-lt"/>
                <a:ea typeface="+mn-ea"/>
                <a:cs typeface="+mn-cs"/>
              </a:rPr>
              <a:t>Transition:  </a:t>
            </a:r>
            <a:r>
              <a:rPr lang="en-US" sz="1200" i="1" kern="1200">
                <a:solidFill>
                  <a:schemeClr val="tx1"/>
                </a:solidFill>
                <a:effectLst/>
                <a:latin typeface="+mn-lt"/>
                <a:ea typeface="+mn-ea"/>
                <a:cs typeface="+mn-cs"/>
              </a:rPr>
              <a:t>And with that - thank you.</a:t>
            </a:r>
            <a:endParaRPr lang="en-US" sz="1200" kern="1200">
              <a:solidFill>
                <a:schemeClr val="tx1"/>
              </a:solidFill>
              <a:effectLst/>
              <a:latin typeface="+mn-lt"/>
              <a:ea typeface="+mn-ea"/>
              <a:cs typeface="+mn-cs"/>
            </a:endParaRPr>
          </a:p>
          <a:p>
            <a:pPr marL="171450" lvl="0" indent="-171450">
              <a:buFont typeface="Arial" panose="020B0604020202020204" pitchFamily="34" charset="0"/>
              <a:buChar cha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173F729-9B69-4F7A-B335-A85BBAD54984}" type="slidenum">
              <a:rPr lang="en-US" smtClean="0"/>
              <a:t>18</a:t>
            </a:fld>
            <a:endParaRPr lang="en-US"/>
          </a:p>
        </p:txBody>
      </p:sp>
    </p:spTree>
    <p:extLst>
      <p:ext uri="{BB962C8B-B14F-4D97-AF65-F5344CB8AC3E}">
        <p14:creationId xmlns:p14="http://schemas.microsoft.com/office/powerpoint/2010/main" val="20963191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01168" y="0"/>
            <a:ext cx="11987784" cy="960120"/>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91440"/>
            <a:ext cx="11274552" cy="7772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B9C4D1"/>
                </a:solidFill>
              </a:rPr>
              <a:t>Eureka®, nLight®, Atrius®, Distech Controls:  Acuity Inc. — Corporate Headquarters</a:t>
            </a:r>
          </a:p>
        </p:txBody>
      </p:sp>
      <p:sp>
        <p:nvSpPr>
          <p:cNvPr id="5" name="Rectangle 4"/>
          <p:cNvSpPr/>
          <p:nvPr/>
        </p:nvSpPr>
        <p:spPr>
          <a:xfrm>
            <a:off x="457200" y="1325880"/>
            <a:ext cx="1127455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47A8BD"/>
                </a:solidFill>
              </a:rPr>
              <a:t>Electronics AI Working Group</a:t>
            </a:r>
          </a:p>
        </p:txBody>
      </p:sp>
      <p:sp>
        <p:nvSpPr>
          <p:cNvPr id="6" name="Rectangle 5"/>
          <p:cNvSpPr/>
          <p:nvPr/>
        </p:nvSpPr>
        <p:spPr>
          <a:xfrm>
            <a:off x="457200" y="1920240"/>
            <a:ext cx="11274552" cy="1737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4000" b="1">
                <a:solidFill>
                  <a:srgbClr val="FFFFFF"/>
                </a:solidFill>
              </a:rPr>
              <a:t>AI Transcript Intake Agent</a:t>
            </a:r>
          </a:p>
          <a:p>
            <a:pPr algn="l"/>
            <a:r>
              <a:rPr sz="2000" b="0">
                <a:solidFill>
                  <a:srgbClr val="E8A838"/>
                </a:solidFill>
              </a:rPr>
              <a:t>From meeting conversation to tracked execution</a:t>
            </a:r>
          </a:p>
        </p:txBody>
      </p:sp>
      <p:sp>
        <p:nvSpPr>
          <p:cNvPr id="7" name="Rectangle 6"/>
          <p:cNvSpPr/>
          <p:nvPr/>
        </p:nvSpPr>
        <p:spPr>
          <a:xfrm>
            <a:off x="457200" y="3931920"/>
            <a:ext cx="11274552"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400">
                <a:solidFill>
                  <a:srgbClr val="B9C4D1"/>
                </a:solidFill>
              </a:rPr>
              <a:t>Why we built it  -  How it works  -  The benefits  -  How it scales</a:t>
            </a:r>
          </a:p>
          <a:p>
            <a:endParaRPr sz="1400">
              <a:solidFill>
                <a:srgbClr val="B9C4D1"/>
              </a:solidFill>
            </a:endParaRPr>
          </a:p>
          <a:p>
            <a:pPr algn="l"/>
            <a:r>
              <a:rPr sz="1400">
                <a:solidFill>
                  <a:srgbClr val="B9C4D1"/>
                </a:solidFill>
              </a:rPr>
              <a:t>Live demo + overview  -  20-30 minutes</a:t>
            </a:r>
          </a:p>
        </p:txBody>
      </p:sp>
      <p:sp>
        <p:nvSpPr>
          <p:cNvPr id="8" name="Rectangle 7"/>
          <p:cNvSpPr/>
          <p:nvPr/>
        </p:nvSpPr>
        <p:spPr>
          <a:xfrm>
            <a:off x="457200" y="5989320"/>
            <a:ext cx="1127455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6B7A8D"/>
                </a:solidFill>
              </a:rPr>
              <a:t>Presented by David High (DK High)  -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Agenda</a:t>
            </a:r>
          </a:p>
          <a:p>
            <a:pPr algn="l"/>
            <a:r>
              <a:rPr sz="1200" b="0">
                <a:solidFill>
                  <a:srgbClr val="B9C4D1"/>
                </a:solidFill>
              </a:rPr>
              <a:t>What we'll cover in the next 20-30 minutes</a:t>
            </a:r>
          </a:p>
        </p:txBody>
      </p:sp>
      <p:sp>
        <p:nvSpPr>
          <p:cNvPr id="4" name="Rectangle 3"/>
          <p:cNvSpPr/>
          <p:nvPr/>
        </p:nvSpPr>
        <p:spPr>
          <a:xfrm>
            <a:off x="640080" y="1554480"/>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1</a:t>
            </a:r>
          </a:p>
        </p:txBody>
      </p:sp>
      <p:sp>
        <p:nvSpPr>
          <p:cNvPr id="5" name="Rectangle 4"/>
          <p:cNvSpPr/>
          <p:nvPr/>
        </p:nvSpPr>
        <p:spPr>
          <a:xfrm>
            <a:off x="1325880" y="1554480"/>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The Problem   -   Why this was created - the manual pain it removes</a:t>
            </a:r>
          </a:p>
        </p:txBody>
      </p:sp>
      <p:sp>
        <p:nvSpPr>
          <p:cNvPr id="6" name="Rectangle 5"/>
          <p:cNvSpPr/>
          <p:nvPr/>
        </p:nvSpPr>
        <p:spPr>
          <a:xfrm>
            <a:off x="1325880" y="1554480"/>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The Problem</a:t>
            </a:r>
          </a:p>
        </p:txBody>
      </p:sp>
      <p:sp>
        <p:nvSpPr>
          <p:cNvPr id="7" name="Rectangle 6"/>
          <p:cNvSpPr/>
          <p:nvPr/>
        </p:nvSpPr>
        <p:spPr>
          <a:xfrm>
            <a:off x="640080" y="2121408"/>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2</a:t>
            </a:r>
          </a:p>
        </p:txBody>
      </p:sp>
      <p:sp>
        <p:nvSpPr>
          <p:cNvPr id="8" name="Rectangle 7"/>
          <p:cNvSpPr/>
          <p:nvPr/>
        </p:nvSpPr>
        <p:spPr>
          <a:xfrm>
            <a:off x="1325880" y="2121408"/>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The Solution   -   What the agent does, end to end</a:t>
            </a:r>
          </a:p>
        </p:txBody>
      </p:sp>
      <p:sp>
        <p:nvSpPr>
          <p:cNvPr id="9" name="Rectangle 8"/>
          <p:cNvSpPr/>
          <p:nvPr/>
        </p:nvSpPr>
        <p:spPr>
          <a:xfrm>
            <a:off x="1325880" y="2121408"/>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The Solution</a:t>
            </a:r>
          </a:p>
        </p:txBody>
      </p:sp>
      <p:sp>
        <p:nvSpPr>
          <p:cNvPr id="10" name="Rectangle 9"/>
          <p:cNvSpPr/>
          <p:nvPr/>
        </p:nvSpPr>
        <p:spPr>
          <a:xfrm>
            <a:off x="640080" y="2688336"/>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3</a:t>
            </a:r>
          </a:p>
        </p:txBody>
      </p:sp>
      <p:sp>
        <p:nvSpPr>
          <p:cNvPr id="11" name="Rectangle 10"/>
          <p:cNvSpPr/>
          <p:nvPr/>
        </p:nvSpPr>
        <p:spPr>
          <a:xfrm>
            <a:off x="1325880" y="2688336"/>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How It Works   -   The pipeline, the AI, and the guardrails</a:t>
            </a:r>
          </a:p>
        </p:txBody>
      </p:sp>
      <p:sp>
        <p:nvSpPr>
          <p:cNvPr id="12" name="Rectangle 11"/>
          <p:cNvSpPr/>
          <p:nvPr/>
        </p:nvSpPr>
        <p:spPr>
          <a:xfrm>
            <a:off x="1325880" y="2688336"/>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How It Works</a:t>
            </a:r>
          </a:p>
        </p:txBody>
      </p:sp>
      <p:sp>
        <p:nvSpPr>
          <p:cNvPr id="13" name="Rectangle 12"/>
          <p:cNvSpPr/>
          <p:nvPr/>
        </p:nvSpPr>
        <p:spPr>
          <a:xfrm>
            <a:off x="640080" y="3255264"/>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4</a:t>
            </a:r>
          </a:p>
        </p:txBody>
      </p:sp>
      <p:sp>
        <p:nvSpPr>
          <p:cNvPr id="14" name="Rectangle 13"/>
          <p:cNvSpPr/>
          <p:nvPr/>
        </p:nvSpPr>
        <p:spPr>
          <a:xfrm>
            <a:off x="1325880" y="3255264"/>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The Outputs   -   Weekly + monthly reports, ADO work items</a:t>
            </a:r>
          </a:p>
        </p:txBody>
      </p:sp>
      <p:sp>
        <p:nvSpPr>
          <p:cNvPr id="15" name="Rectangle 14"/>
          <p:cNvSpPr/>
          <p:nvPr/>
        </p:nvSpPr>
        <p:spPr>
          <a:xfrm>
            <a:off x="1325880" y="3255264"/>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The Outputs</a:t>
            </a:r>
          </a:p>
        </p:txBody>
      </p:sp>
      <p:sp>
        <p:nvSpPr>
          <p:cNvPr id="16" name="Rectangle 15"/>
          <p:cNvSpPr/>
          <p:nvPr/>
        </p:nvSpPr>
        <p:spPr>
          <a:xfrm>
            <a:off x="640080" y="3822192"/>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5</a:t>
            </a:r>
          </a:p>
        </p:txBody>
      </p:sp>
      <p:sp>
        <p:nvSpPr>
          <p:cNvPr id="17" name="Rectangle 16"/>
          <p:cNvSpPr/>
          <p:nvPr/>
        </p:nvSpPr>
        <p:spPr>
          <a:xfrm>
            <a:off x="1325880" y="3822192"/>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Closing the Loop   -   From discussion to tracked execution in Azure DevOps</a:t>
            </a:r>
          </a:p>
        </p:txBody>
      </p:sp>
      <p:sp>
        <p:nvSpPr>
          <p:cNvPr id="18" name="Rectangle 17"/>
          <p:cNvSpPr/>
          <p:nvPr/>
        </p:nvSpPr>
        <p:spPr>
          <a:xfrm>
            <a:off x="1325880" y="3822192"/>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Closing the Loop</a:t>
            </a:r>
          </a:p>
        </p:txBody>
      </p:sp>
      <p:sp>
        <p:nvSpPr>
          <p:cNvPr id="19" name="Rectangle 18"/>
          <p:cNvSpPr/>
          <p:nvPr/>
        </p:nvSpPr>
        <p:spPr>
          <a:xfrm>
            <a:off x="640080" y="4389120"/>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6</a:t>
            </a:r>
          </a:p>
        </p:txBody>
      </p:sp>
      <p:sp>
        <p:nvSpPr>
          <p:cNvPr id="20" name="Rectangle 19"/>
          <p:cNvSpPr/>
          <p:nvPr/>
        </p:nvSpPr>
        <p:spPr>
          <a:xfrm>
            <a:off x="1325880" y="4389120"/>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Live Demo   -   Drop a transcript, run it, see the report</a:t>
            </a:r>
          </a:p>
        </p:txBody>
      </p:sp>
      <p:sp>
        <p:nvSpPr>
          <p:cNvPr id="21" name="Rectangle 20"/>
          <p:cNvSpPr/>
          <p:nvPr/>
        </p:nvSpPr>
        <p:spPr>
          <a:xfrm>
            <a:off x="1325880" y="4389120"/>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Live Demo</a:t>
            </a:r>
          </a:p>
        </p:txBody>
      </p:sp>
      <p:sp>
        <p:nvSpPr>
          <p:cNvPr id="22" name="Rectangle 21"/>
          <p:cNvSpPr/>
          <p:nvPr/>
        </p:nvSpPr>
        <p:spPr>
          <a:xfrm>
            <a:off x="640080" y="4956048"/>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7</a:t>
            </a:r>
          </a:p>
        </p:txBody>
      </p:sp>
      <p:sp>
        <p:nvSpPr>
          <p:cNvPr id="23" name="Rectangle 22"/>
          <p:cNvSpPr/>
          <p:nvPr/>
        </p:nvSpPr>
        <p:spPr>
          <a:xfrm>
            <a:off x="1325880" y="4956048"/>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The Benefits   -   Time savings and ROI</a:t>
            </a:r>
          </a:p>
        </p:txBody>
      </p:sp>
      <p:sp>
        <p:nvSpPr>
          <p:cNvPr id="24" name="Rectangle 23"/>
          <p:cNvSpPr/>
          <p:nvPr/>
        </p:nvSpPr>
        <p:spPr>
          <a:xfrm>
            <a:off x="1325880" y="4956048"/>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The Benefits</a:t>
            </a:r>
          </a:p>
        </p:txBody>
      </p:sp>
      <p:sp>
        <p:nvSpPr>
          <p:cNvPr id="25" name="Rectangle 24"/>
          <p:cNvSpPr/>
          <p:nvPr/>
        </p:nvSpPr>
        <p:spPr>
          <a:xfrm>
            <a:off x="640080" y="5522976"/>
            <a:ext cx="502920" cy="4572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8</a:t>
            </a:r>
          </a:p>
        </p:txBody>
      </p:sp>
      <p:sp>
        <p:nvSpPr>
          <p:cNvPr id="26" name="Rectangle 25"/>
          <p:cNvSpPr/>
          <p:nvPr/>
        </p:nvSpPr>
        <p:spPr>
          <a:xfrm>
            <a:off x="1325880" y="5522976"/>
            <a:ext cx="10268712"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How It Scales   -   Other teams, other extraction types</a:t>
            </a:r>
          </a:p>
        </p:txBody>
      </p:sp>
      <p:sp>
        <p:nvSpPr>
          <p:cNvPr id="27" name="Rectangle 26"/>
          <p:cNvSpPr/>
          <p:nvPr/>
        </p:nvSpPr>
        <p:spPr>
          <a:xfrm>
            <a:off x="1325880" y="5522976"/>
            <a:ext cx="29260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1">
                <a:solidFill>
                  <a:srgbClr val="1F3864"/>
                </a:solidFill>
              </a:rPr>
              <a:t>How It Scales</a:t>
            </a:r>
          </a:p>
        </p:txBody>
      </p:sp>
      <p:sp>
        <p:nvSpPr>
          <p:cNvPr id="28" name="Rectangle 27"/>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468880"/>
            <a:ext cx="105430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0">
                <a:solidFill>
                  <a:srgbClr val="47A8BD"/>
                </a:solidFill>
              </a:rPr>
              <a:t>PART 1</a:t>
            </a:r>
          </a:p>
        </p:txBody>
      </p:sp>
      <p:sp>
        <p:nvSpPr>
          <p:cNvPr id="4" name="Rectangle 3"/>
          <p:cNvSpPr/>
          <p:nvPr/>
        </p:nvSpPr>
        <p:spPr>
          <a:xfrm>
            <a:off x="822960" y="2926080"/>
            <a:ext cx="1054303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600" b="1">
                <a:solidFill>
                  <a:srgbClr val="FFFFFF"/>
                </a:solidFill>
              </a:rPr>
              <a:t>Why we built it</a:t>
            </a:r>
          </a:p>
        </p:txBody>
      </p:sp>
      <p:sp>
        <p:nvSpPr>
          <p:cNvPr id="5" name="Rectangle 4"/>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The Problem</a:t>
            </a:r>
          </a:p>
          <a:p>
            <a:pPr algn="l"/>
            <a:r>
              <a:rPr sz="1200" b="0">
                <a:solidFill>
                  <a:srgbClr val="B9C4D1"/>
                </a:solidFill>
              </a:rPr>
              <a:t>Why we built this</a:t>
            </a:r>
          </a:p>
        </p:txBody>
      </p:sp>
      <p:sp>
        <p:nvSpPr>
          <p:cNvPr id="4" name="Rectangle 3"/>
          <p:cNvSpPr/>
          <p:nvPr/>
        </p:nvSpPr>
        <p:spPr>
          <a:xfrm>
            <a:off x="640080" y="1417320"/>
            <a:ext cx="10908792"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0">
                <a:solidFill>
                  <a:srgbClr val="2C3E50"/>
                </a:solidFill>
              </a:rPr>
              <a:t>Every week the working group meets and talks about ways the business could use AI. Those ideas were getting lost.</a:t>
            </a:r>
          </a:p>
        </p:txBody>
      </p:sp>
      <p:sp>
        <p:nvSpPr>
          <p:cNvPr id="5" name="Rectangle 4"/>
          <p:cNvSpPr/>
          <p:nvPr/>
        </p:nvSpPr>
        <p:spPr>
          <a:xfrm>
            <a:off x="640080" y="2468880"/>
            <a:ext cx="3611880" cy="32004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468880"/>
            <a:ext cx="3611880" cy="109728"/>
          </a:xfrm>
          <a:prstGeom prst="rect">
            <a:avLst/>
          </a:prstGeom>
          <a:solidFill>
            <a:srgbClr val="C06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4672" y="2651760"/>
            <a:ext cx="328269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Manual &amp; slow</a:t>
            </a:r>
          </a:p>
        </p:txBody>
      </p:sp>
      <p:sp>
        <p:nvSpPr>
          <p:cNvPr id="8" name="Rectangle 7"/>
          <p:cNvSpPr/>
          <p:nvPr/>
        </p:nvSpPr>
        <p:spPr>
          <a:xfrm>
            <a:off x="804672" y="3182112"/>
            <a:ext cx="3282696" cy="23317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Someone had to read hours of transcript</a:t>
            </a:r>
          </a:p>
          <a:p>
            <a:endParaRPr sz="1100">
              <a:solidFill>
                <a:srgbClr val="2C3E50"/>
              </a:solidFill>
            </a:endParaRPr>
          </a:p>
          <a:p>
            <a:pPr algn="l"/>
            <a:r>
              <a:rPr sz="1100">
                <a:solidFill>
                  <a:srgbClr val="2C3E50"/>
                </a:solidFill>
              </a:rPr>
              <a:t>•  Pull out the real opportunities by hand</a:t>
            </a:r>
          </a:p>
          <a:p>
            <a:endParaRPr sz="1100">
              <a:solidFill>
                <a:srgbClr val="2C3E50"/>
              </a:solidFill>
            </a:endParaRPr>
          </a:p>
          <a:p>
            <a:pPr algn="l"/>
            <a:r>
              <a:rPr sz="1100">
                <a:solidFill>
                  <a:srgbClr val="2C3E50"/>
                </a:solidFill>
              </a:rPr>
              <a:t>•  Fill ~40 fields per idea in a spreadsheet</a:t>
            </a:r>
          </a:p>
          <a:p>
            <a:endParaRPr sz="1100">
              <a:solidFill>
                <a:srgbClr val="2C3E50"/>
              </a:solidFill>
            </a:endParaRPr>
          </a:p>
          <a:p>
            <a:pPr algn="l"/>
            <a:r>
              <a:rPr sz="1100">
                <a:solidFill>
                  <a:srgbClr val="2C3E50"/>
                </a:solidFill>
              </a:rPr>
              <a:t>•  ~7 hours of effort, every single week</a:t>
            </a:r>
          </a:p>
        </p:txBody>
      </p:sp>
      <p:sp>
        <p:nvSpPr>
          <p:cNvPr id="9" name="Rectangle 8"/>
          <p:cNvSpPr/>
          <p:nvPr/>
        </p:nvSpPr>
        <p:spPr>
          <a:xfrm>
            <a:off x="4434840" y="2468880"/>
            <a:ext cx="3611880" cy="32004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434840" y="2468880"/>
            <a:ext cx="3611880"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99432" y="2651760"/>
            <a:ext cx="328269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Inconsistent</a:t>
            </a:r>
          </a:p>
        </p:txBody>
      </p:sp>
      <p:sp>
        <p:nvSpPr>
          <p:cNvPr id="12" name="Rectangle 11"/>
          <p:cNvSpPr/>
          <p:nvPr/>
        </p:nvSpPr>
        <p:spPr>
          <a:xfrm>
            <a:off x="4599432" y="3182112"/>
            <a:ext cx="3282696" cy="23317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Different people captured different things</a:t>
            </a:r>
          </a:p>
          <a:p>
            <a:endParaRPr sz="1100">
              <a:solidFill>
                <a:srgbClr val="2C3E50"/>
              </a:solidFill>
            </a:endParaRPr>
          </a:p>
          <a:p>
            <a:pPr algn="l"/>
            <a:r>
              <a:rPr sz="1100">
                <a:solidFill>
                  <a:srgbClr val="2C3E50"/>
                </a:solidFill>
              </a:rPr>
              <a:t>•  No shared classification language</a:t>
            </a:r>
          </a:p>
          <a:p>
            <a:endParaRPr sz="1100">
              <a:solidFill>
                <a:srgbClr val="2C3E50"/>
              </a:solidFill>
            </a:endParaRPr>
          </a:p>
          <a:p>
            <a:pPr algn="l"/>
            <a:r>
              <a:rPr sz="1100">
                <a:solidFill>
                  <a:srgbClr val="2C3E50"/>
                </a:solidFill>
              </a:rPr>
              <a:t>•  Hard to compare week over week</a:t>
            </a:r>
          </a:p>
          <a:p>
            <a:endParaRPr sz="1100">
              <a:solidFill>
                <a:srgbClr val="2C3E50"/>
              </a:solidFill>
            </a:endParaRPr>
          </a:p>
          <a:p>
            <a:pPr algn="l"/>
            <a:r>
              <a:rPr sz="1100">
                <a:solidFill>
                  <a:srgbClr val="2C3E50"/>
                </a:solidFill>
              </a:rPr>
              <a:t>•  Quality depended on who did it</a:t>
            </a:r>
          </a:p>
        </p:txBody>
      </p:sp>
      <p:sp>
        <p:nvSpPr>
          <p:cNvPr id="13" name="Rectangle 12"/>
          <p:cNvSpPr/>
          <p:nvPr/>
        </p:nvSpPr>
        <p:spPr>
          <a:xfrm>
            <a:off x="8229600" y="2468880"/>
            <a:ext cx="3611880" cy="32004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0" y="2468880"/>
            <a:ext cx="3611880" cy="109728"/>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94192" y="2651760"/>
            <a:ext cx="328269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No follow-through</a:t>
            </a:r>
          </a:p>
        </p:txBody>
      </p:sp>
      <p:sp>
        <p:nvSpPr>
          <p:cNvPr id="16" name="Rectangle 15"/>
          <p:cNvSpPr/>
          <p:nvPr/>
        </p:nvSpPr>
        <p:spPr>
          <a:xfrm>
            <a:off x="8394192" y="3182112"/>
            <a:ext cx="3282696" cy="23317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Ideas were captured, then forgotten</a:t>
            </a:r>
          </a:p>
          <a:p>
            <a:endParaRPr sz="1100">
              <a:solidFill>
                <a:srgbClr val="2C3E50"/>
              </a:solidFill>
            </a:endParaRPr>
          </a:p>
          <a:p>
            <a:pPr algn="l"/>
            <a:r>
              <a:rPr sz="1100">
                <a:solidFill>
                  <a:srgbClr val="2C3E50"/>
                </a:solidFill>
              </a:rPr>
              <a:t>•  No link to who would actually do them</a:t>
            </a:r>
          </a:p>
          <a:p>
            <a:endParaRPr sz="1100">
              <a:solidFill>
                <a:srgbClr val="2C3E50"/>
              </a:solidFill>
            </a:endParaRPr>
          </a:p>
          <a:p>
            <a:pPr algn="l"/>
            <a:r>
              <a:rPr sz="1100">
                <a:solidFill>
                  <a:srgbClr val="2C3E50"/>
                </a:solidFill>
              </a:rPr>
              <a:t>•  'Did anything happen with X?' - nobody knew</a:t>
            </a:r>
          </a:p>
          <a:p>
            <a:endParaRPr sz="1100">
              <a:solidFill>
                <a:srgbClr val="2C3E50"/>
              </a:solidFill>
            </a:endParaRPr>
          </a:p>
          <a:p>
            <a:pPr algn="l"/>
            <a:r>
              <a:rPr sz="1100">
                <a:solidFill>
                  <a:srgbClr val="2C3E50"/>
                </a:solidFill>
              </a:rPr>
              <a:t>•  The loop was never closed</a:t>
            </a:r>
          </a:p>
        </p:txBody>
      </p:sp>
      <p:sp>
        <p:nvSpPr>
          <p:cNvPr id="17" name="Rectangle 16"/>
          <p:cNvSpPr/>
          <p:nvPr/>
        </p:nvSpPr>
        <p:spPr>
          <a:xfrm>
            <a:off x="640080" y="5897880"/>
            <a:ext cx="10908792" cy="50292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The core insight: a transcript is the BEGINNING of the work, not the end of it.</a:t>
            </a:r>
          </a:p>
        </p:txBody>
      </p:sp>
      <p:sp>
        <p:nvSpPr>
          <p:cNvPr id="18" name="Rectangle 17"/>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The Solution</a:t>
            </a:r>
          </a:p>
          <a:p>
            <a:pPr algn="l"/>
            <a:r>
              <a:rPr sz="1200" b="0">
                <a:solidFill>
                  <a:srgbClr val="B9C4D1"/>
                </a:solidFill>
              </a:rPr>
              <a:t>A local agent that turns talk into tracked work</a:t>
            </a:r>
          </a:p>
        </p:txBody>
      </p:sp>
      <p:sp>
        <p:nvSpPr>
          <p:cNvPr id="4" name="Rectangle 3"/>
          <p:cNvSpPr/>
          <p:nvPr/>
        </p:nvSpPr>
        <p:spPr>
          <a:xfrm>
            <a:off x="640080" y="1417320"/>
            <a:ext cx="10908792"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Drop in a meeting transcript. Get back reviewable AI-opportunity records, trend reports, and tracked work items - with a human in the loop at every step.</a:t>
            </a:r>
          </a:p>
        </p:txBody>
      </p:sp>
      <p:sp>
        <p:nvSpPr>
          <p:cNvPr id="5" name="Rectangle 4"/>
          <p:cNvSpPr/>
          <p:nvPr/>
        </p:nvSpPr>
        <p:spPr>
          <a:xfrm>
            <a:off x="640080" y="2377440"/>
            <a:ext cx="2057400" cy="1005840"/>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640080" y="2514600"/>
            <a:ext cx="20574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Read</a:t>
            </a:r>
          </a:p>
        </p:txBody>
      </p:sp>
      <p:sp>
        <p:nvSpPr>
          <p:cNvPr id="7" name="Rectangle 6"/>
          <p:cNvSpPr/>
          <p:nvPr/>
        </p:nvSpPr>
        <p:spPr>
          <a:xfrm>
            <a:off x="640080" y="2926080"/>
            <a:ext cx="205740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a:solidFill>
                  <a:srgbClr val="FFFFFF"/>
                </a:solidFill>
              </a:rPr>
              <a:t>DOCX transcript in</a:t>
            </a:r>
          </a:p>
        </p:txBody>
      </p:sp>
      <p:sp>
        <p:nvSpPr>
          <p:cNvPr id="8" name="Rectangle 7"/>
          <p:cNvSpPr/>
          <p:nvPr/>
        </p:nvSpPr>
        <p:spPr>
          <a:xfrm>
            <a:off x="2697480" y="2761488"/>
            <a:ext cx="164592" cy="23774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6B7A8D"/>
                </a:solidFill>
              </a:rPr>
              <a:t>&gt;</a:t>
            </a:r>
          </a:p>
        </p:txBody>
      </p:sp>
      <p:sp>
        <p:nvSpPr>
          <p:cNvPr id="9" name="Rectangle 8"/>
          <p:cNvSpPr/>
          <p:nvPr/>
        </p:nvSpPr>
        <p:spPr>
          <a:xfrm>
            <a:off x="2862072" y="2377440"/>
            <a:ext cx="2057400" cy="1005840"/>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ectangle 9"/>
          <p:cNvSpPr/>
          <p:nvPr/>
        </p:nvSpPr>
        <p:spPr>
          <a:xfrm>
            <a:off x="2862072" y="2514600"/>
            <a:ext cx="20574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Extract</a:t>
            </a:r>
          </a:p>
        </p:txBody>
      </p:sp>
      <p:sp>
        <p:nvSpPr>
          <p:cNvPr id="11" name="Rectangle 10"/>
          <p:cNvSpPr/>
          <p:nvPr/>
        </p:nvSpPr>
        <p:spPr>
          <a:xfrm>
            <a:off x="2862072" y="2926080"/>
            <a:ext cx="205740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a:solidFill>
                  <a:srgbClr val="FFFFFF"/>
                </a:solidFill>
              </a:rPr>
              <a:t>AI finds opportunities</a:t>
            </a:r>
          </a:p>
        </p:txBody>
      </p:sp>
      <p:sp>
        <p:nvSpPr>
          <p:cNvPr id="12" name="Rectangle 11"/>
          <p:cNvSpPr/>
          <p:nvPr/>
        </p:nvSpPr>
        <p:spPr>
          <a:xfrm>
            <a:off x="4919472" y="2761488"/>
            <a:ext cx="164592" cy="23774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6B7A8D"/>
                </a:solidFill>
              </a:rPr>
              <a:t>&gt;</a:t>
            </a:r>
          </a:p>
        </p:txBody>
      </p:sp>
      <p:sp>
        <p:nvSpPr>
          <p:cNvPr id="13" name="Rectangle 12"/>
          <p:cNvSpPr/>
          <p:nvPr/>
        </p:nvSpPr>
        <p:spPr>
          <a:xfrm>
            <a:off x="5084064" y="2377440"/>
            <a:ext cx="2057400" cy="1005840"/>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5084064" y="2514600"/>
            <a:ext cx="20574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Classify</a:t>
            </a:r>
          </a:p>
        </p:txBody>
      </p:sp>
      <p:sp>
        <p:nvSpPr>
          <p:cNvPr id="15" name="Rectangle 14"/>
          <p:cNvSpPr/>
          <p:nvPr/>
        </p:nvSpPr>
        <p:spPr>
          <a:xfrm>
            <a:off x="5084064" y="2926080"/>
            <a:ext cx="205740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a:solidFill>
                  <a:srgbClr val="FFFFFF"/>
                </a:solidFill>
              </a:rPr>
              <a:t>Map to framework</a:t>
            </a:r>
          </a:p>
        </p:txBody>
      </p:sp>
      <p:sp>
        <p:nvSpPr>
          <p:cNvPr id="16" name="Rectangle 15"/>
          <p:cNvSpPr/>
          <p:nvPr/>
        </p:nvSpPr>
        <p:spPr>
          <a:xfrm>
            <a:off x="7141464" y="2761488"/>
            <a:ext cx="164592" cy="23774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6B7A8D"/>
                </a:solidFill>
              </a:rPr>
              <a:t>&gt;</a:t>
            </a:r>
          </a:p>
        </p:txBody>
      </p:sp>
      <p:sp>
        <p:nvSpPr>
          <p:cNvPr id="17" name="Rectangle 16"/>
          <p:cNvSpPr/>
          <p:nvPr/>
        </p:nvSpPr>
        <p:spPr>
          <a:xfrm>
            <a:off x="7306056" y="2377440"/>
            <a:ext cx="2057400" cy="10058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Rectangle 17"/>
          <p:cNvSpPr/>
          <p:nvPr/>
        </p:nvSpPr>
        <p:spPr>
          <a:xfrm>
            <a:off x="7306056" y="2514600"/>
            <a:ext cx="20574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Report</a:t>
            </a:r>
          </a:p>
        </p:txBody>
      </p:sp>
      <p:sp>
        <p:nvSpPr>
          <p:cNvPr id="19" name="Rectangle 18"/>
          <p:cNvSpPr/>
          <p:nvPr/>
        </p:nvSpPr>
        <p:spPr>
          <a:xfrm>
            <a:off x="7306056" y="2926080"/>
            <a:ext cx="205740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a:solidFill>
                  <a:srgbClr val="FFFFFF"/>
                </a:solidFill>
              </a:rPr>
              <a:t>Weekly + monthly HTML</a:t>
            </a:r>
          </a:p>
        </p:txBody>
      </p:sp>
      <p:sp>
        <p:nvSpPr>
          <p:cNvPr id="20" name="Rectangle 19"/>
          <p:cNvSpPr/>
          <p:nvPr/>
        </p:nvSpPr>
        <p:spPr>
          <a:xfrm>
            <a:off x="9363456" y="2761488"/>
            <a:ext cx="164592" cy="23774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6B7A8D"/>
                </a:solidFill>
              </a:rPr>
              <a:t>&gt;</a:t>
            </a:r>
          </a:p>
        </p:txBody>
      </p:sp>
      <p:sp>
        <p:nvSpPr>
          <p:cNvPr id="21" name="Rectangle 20"/>
          <p:cNvSpPr/>
          <p:nvPr/>
        </p:nvSpPr>
        <p:spPr>
          <a:xfrm>
            <a:off x="9528048" y="2377440"/>
            <a:ext cx="2057400" cy="1005840"/>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p:cNvSpPr/>
          <p:nvPr/>
        </p:nvSpPr>
        <p:spPr>
          <a:xfrm>
            <a:off x="9528048" y="2514600"/>
            <a:ext cx="20574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Track</a:t>
            </a:r>
          </a:p>
        </p:txBody>
      </p:sp>
      <p:sp>
        <p:nvSpPr>
          <p:cNvPr id="23" name="Rectangle 22"/>
          <p:cNvSpPr/>
          <p:nvPr/>
        </p:nvSpPr>
        <p:spPr>
          <a:xfrm>
            <a:off x="9528048" y="2926080"/>
            <a:ext cx="205740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0">
                <a:solidFill>
                  <a:srgbClr val="FFFFFF"/>
                </a:solidFill>
              </a:rPr>
              <a:t>Push to Azure DevOps</a:t>
            </a:r>
          </a:p>
        </p:txBody>
      </p:sp>
      <p:sp>
        <p:nvSpPr>
          <p:cNvPr id="24" name="Rectangle 23"/>
          <p:cNvSpPr/>
          <p:nvPr/>
        </p:nvSpPr>
        <p:spPr>
          <a:xfrm>
            <a:off x="640080" y="3840480"/>
            <a:ext cx="5394960" cy="21031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3840480"/>
            <a:ext cx="5394960" cy="109728"/>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04672" y="4023360"/>
            <a:ext cx="50657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What makes it trustworthy</a:t>
            </a:r>
          </a:p>
        </p:txBody>
      </p:sp>
      <p:sp>
        <p:nvSpPr>
          <p:cNvPr id="27" name="Rectangle 26"/>
          <p:cNvSpPr/>
          <p:nvPr/>
        </p:nvSpPr>
        <p:spPr>
          <a:xfrm>
            <a:off x="804672" y="4553712"/>
            <a:ext cx="5065776" cy="1234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Full transcripts are NEVER sent to the model - only filtered chunks</a:t>
            </a:r>
          </a:p>
          <a:p>
            <a:endParaRPr sz="1100">
              <a:solidFill>
                <a:srgbClr val="2C3E50"/>
              </a:solidFill>
            </a:endParaRPr>
          </a:p>
          <a:p>
            <a:pPr algn="l"/>
            <a:r>
              <a:rPr sz="1100">
                <a:solidFill>
                  <a:srgbClr val="2C3E50"/>
                </a:solidFill>
              </a:rPr>
              <a:t>•  Every AI output is DRAFT-only, defaults to 'Needs Review'</a:t>
            </a:r>
          </a:p>
          <a:p>
            <a:endParaRPr sz="1100">
              <a:solidFill>
                <a:srgbClr val="2C3E50"/>
              </a:solidFill>
            </a:endParaRPr>
          </a:p>
          <a:p>
            <a:pPr algn="l"/>
            <a:r>
              <a:rPr sz="1100">
                <a:solidFill>
                  <a:srgbClr val="2C3E50"/>
                </a:solidFill>
              </a:rPr>
              <a:t>•  Human review required before any SharePoint or ADO push</a:t>
            </a:r>
          </a:p>
          <a:p>
            <a:endParaRPr sz="1100">
              <a:solidFill>
                <a:srgbClr val="2C3E50"/>
              </a:solidFill>
            </a:endParaRPr>
          </a:p>
          <a:p>
            <a:pPr algn="l"/>
            <a:r>
              <a:rPr sz="1100">
                <a:solidFill>
                  <a:srgbClr val="2C3E50"/>
                </a:solidFill>
              </a:rPr>
              <a:t>•  Evidence preserved: speaker, timestamp, quote on every row</a:t>
            </a:r>
          </a:p>
        </p:txBody>
      </p:sp>
      <p:sp>
        <p:nvSpPr>
          <p:cNvPr id="28" name="Rectangle 27"/>
          <p:cNvSpPr/>
          <p:nvPr/>
        </p:nvSpPr>
        <p:spPr>
          <a:xfrm>
            <a:off x="6217920" y="3840480"/>
            <a:ext cx="5330952" cy="21031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17920" y="3840480"/>
            <a:ext cx="5330952"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382512" y="4023360"/>
            <a:ext cx="50017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What makes it efficient</a:t>
            </a:r>
          </a:p>
        </p:txBody>
      </p:sp>
      <p:sp>
        <p:nvSpPr>
          <p:cNvPr id="31" name="Rectangle 30"/>
          <p:cNvSpPr/>
          <p:nvPr/>
        </p:nvSpPr>
        <p:spPr>
          <a:xfrm>
            <a:off x="6382512" y="4553712"/>
            <a:ext cx="5001768" cy="1234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Deterministic Python does all the heavy lifting (free)</a:t>
            </a:r>
          </a:p>
          <a:p>
            <a:endParaRPr sz="1100">
              <a:solidFill>
                <a:srgbClr val="2C3E50"/>
              </a:solidFill>
            </a:endParaRPr>
          </a:p>
          <a:p>
            <a:pPr algn="l"/>
            <a:r>
              <a:rPr sz="1100">
                <a:solidFill>
                  <a:srgbClr val="2C3E50"/>
                </a:solidFill>
              </a:rPr>
              <a:t>•  AI used only for the two semantic steps: extract + classify</a:t>
            </a:r>
          </a:p>
          <a:p>
            <a:endParaRPr sz="1100">
              <a:solidFill>
                <a:srgbClr val="2C3E50"/>
              </a:solidFill>
            </a:endParaRPr>
          </a:p>
          <a:p>
            <a:pPr algn="l"/>
            <a:r>
              <a:rPr sz="1100">
                <a:solidFill>
                  <a:srgbClr val="2C3E50"/>
                </a:solidFill>
              </a:rPr>
              <a:t>•  Runs on your existing GitHub Copilot subscription - no new key</a:t>
            </a:r>
          </a:p>
          <a:p>
            <a:endParaRPr sz="1100">
              <a:solidFill>
                <a:srgbClr val="2C3E50"/>
              </a:solidFill>
            </a:endParaRPr>
          </a:p>
          <a:p>
            <a:pPr algn="l"/>
            <a:r>
              <a:rPr sz="1100">
                <a:solidFill>
                  <a:srgbClr val="2C3E50"/>
                </a:solidFill>
              </a:rPr>
              <a:t>•  Idempotent: safe to re-run, never double-counts</a:t>
            </a:r>
          </a:p>
        </p:txBody>
      </p:sp>
      <p:sp>
        <p:nvSpPr>
          <p:cNvPr id="32" name="Rectangle 31"/>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468880"/>
            <a:ext cx="105430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0">
                <a:solidFill>
                  <a:srgbClr val="47A8BD"/>
                </a:solidFill>
              </a:rPr>
              <a:t>PART 2</a:t>
            </a:r>
          </a:p>
        </p:txBody>
      </p:sp>
      <p:sp>
        <p:nvSpPr>
          <p:cNvPr id="4" name="Rectangle 3"/>
          <p:cNvSpPr/>
          <p:nvPr/>
        </p:nvSpPr>
        <p:spPr>
          <a:xfrm>
            <a:off x="822960" y="2926080"/>
            <a:ext cx="1054303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600" b="1">
                <a:solidFill>
                  <a:srgbClr val="FFFFFF"/>
                </a:solidFill>
              </a:rPr>
              <a:t>How it works</a:t>
            </a:r>
          </a:p>
        </p:txBody>
      </p:sp>
      <p:sp>
        <p:nvSpPr>
          <p:cNvPr id="5" name="Rectangle 4"/>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How It Works - The Pipeline</a:t>
            </a:r>
          </a:p>
          <a:p>
            <a:pPr algn="l"/>
            <a:r>
              <a:rPr sz="1200" b="0">
                <a:solidFill>
                  <a:srgbClr val="B9C4D1"/>
                </a:solidFill>
              </a:rPr>
              <a:t>Mostly deterministic Python; AI only where it adds value</a:t>
            </a:r>
          </a:p>
        </p:txBody>
      </p:sp>
      <p:sp>
        <p:nvSpPr>
          <p:cNvPr id="4" name="Rectangle 3"/>
          <p:cNvSpPr/>
          <p:nvPr/>
        </p:nvSpPr>
        <p:spPr>
          <a:xfrm>
            <a:off x="640080" y="1463040"/>
            <a:ext cx="10908792" cy="41148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FFFFFF"/>
                </a:solidFill>
              </a:rPr>
              <a:t>Step        Stage                         What happens                                                     Type</a:t>
            </a:r>
          </a:p>
        </p:txBody>
      </p:sp>
      <p:sp>
        <p:nvSpPr>
          <p:cNvPr id="5" name="Rectangle 4"/>
          <p:cNvSpPr/>
          <p:nvPr/>
        </p:nvSpPr>
        <p:spPr>
          <a:xfrm>
            <a:off x="640080" y="1920240"/>
            <a:ext cx="10908792" cy="566928"/>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77240" y="1920240"/>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0</a:t>
            </a:r>
          </a:p>
        </p:txBody>
      </p:sp>
      <p:sp>
        <p:nvSpPr>
          <p:cNvPr id="7" name="Rectangle 6"/>
          <p:cNvSpPr/>
          <p:nvPr/>
        </p:nvSpPr>
        <p:spPr>
          <a:xfrm>
            <a:off x="1645920" y="1920240"/>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ADO status sync</a:t>
            </a:r>
          </a:p>
        </p:txBody>
      </p:sp>
      <p:sp>
        <p:nvSpPr>
          <p:cNvPr id="8" name="Rectangle 7"/>
          <p:cNvSpPr/>
          <p:nvPr/>
        </p:nvSpPr>
        <p:spPr>
          <a:xfrm>
            <a:off x="4480560" y="1920240"/>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Pull live work-item status into reports</a:t>
            </a:r>
          </a:p>
        </p:txBody>
      </p:sp>
      <p:sp>
        <p:nvSpPr>
          <p:cNvPr id="9" name="Rectangle 8"/>
          <p:cNvSpPr/>
          <p:nvPr/>
        </p:nvSpPr>
        <p:spPr>
          <a:xfrm>
            <a:off x="10332720" y="2011680"/>
            <a:ext cx="1005840" cy="384048"/>
          </a:xfrm>
          <a:prstGeom prst="rect">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rPr>
              <a:t>Python</a:t>
            </a:r>
          </a:p>
        </p:txBody>
      </p:sp>
      <p:sp>
        <p:nvSpPr>
          <p:cNvPr id="10" name="Rectangle 9"/>
          <p:cNvSpPr/>
          <p:nvPr/>
        </p:nvSpPr>
        <p:spPr>
          <a:xfrm>
            <a:off x="640080" y="2487168"/>
            <a:ext cx="10908792" cy="566928"/>
          </a:xfrm>
          <a:prstGeom prst="rect">
            <a:avLst/>
          </a:prstGeom>
          <a:solidFill>
            <a:srgbClr val="F7F9FC"/>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77240" y="2487168"/>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1-3</a:t>
            </a:r>
          </a:p>
        </p:txBody>
      </p:sp>
      <p:sp>
        <p:nvSpPr>
          <p:cNvPr id="12" name="Rectangle 11"/>
          <p:cNvSpPr/>
          <p:nvPr/>
        </p:nvSpPr>
        <p:spPr>
          <a:xfrm>
            <a:off x="1645920" y="2487168"/>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Read - Clean - Chunk</a:t>
            </a:r>
          </a:p>
        </p:txBody>
      </p:sp>
      <p:sp>
        <p:nvSpPr>
          <p:cNvPr id="13" name="Rectangle 12"/>
          <p:cNvSpPr/>
          <p:nvPr/>
        </p:nvSpPr>
        <p:spPr>
          <a:xfrm>
            <a:off x="4480560" y="2487168"/>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Parse DOCX, keep speaker turns, keyword-filter</a:t>
            </a:r>
          </a:p>
        </p:txBody>
      </p:sp>
      <p:sp>
        <p:nvSpPr>
          <p:cNvPr id="14" name="Rectangle 13"/>
          <p:cNvSpPr/>
          <p:nvPr/>
        </p:nvSpPr>
        <p:spPr>
          <a:xfrm>
            <a:off x="10332720" y="2578608"/>
            <a:ext cx="1005840" cy="384048"/>
          </a:xfrm>
          <a:prstGeom prst="rect">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Python</a:t>
            </a:r>
          </a:p>
        </p:txBody>
      </p:sp>
      <p:sp>
        <p:nvSpPr>
          <p:cNvPr id="15" name="Rectangle 14"/>
          <p:cNvSpPr/>
          <p:nvPr/>
        </p:nvSpPr>
        <p:spPr>
          <a:xfrm>
            <a:off x="640080" y="3054096"/>
            <a:ext cx="10908792" cy="566928"/>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3054096"/>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4</a:t>
            </a:r>
          </a:p>
        </p:txBody>
      </p:sp>
      <p:sp>
        <p:nvSpPr>
          <p:cNvPr id="17" name="Rectangle 16"/>
          <p:cNvSpPr/>
          <p:nvPr/>
        </p:nvSpPr>
        <p:spPr>
          <a:xfrm>
            <a:off x="1645920" y="3054096"/>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Extract candidates</a:t>
            </a:r>
          </a:p>
        </p:txBody>
      </p:sp>
      <p:sp>
        <p:nvSpPr>
          <p:cNvPr id="18" name="Rectangle 17"/>
          <p:cNvSpPr/>
          <p:nvPr/>
        </p:nvSpPr>
        <p:spPr>
          <a:xfrm>
            <a:off x="4480560" y="3054096"/>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Find AI opportunities in filtered chunks</a:t>
            </a:r>
          </a:p>
        </p:txBody>
      </p:sp>
      <p:sp>
        <p:nvSpPr>
          <p:cNvPr id="19" name="Rectangle 18"/>
          <p:cNvSpPr/>
          <p:nvPr/>
        </p:nvSpPr>
        <p:spPr>
          <a:xfrm>
            <a:off x="10332720" y="3145536"/>
            <a:ext cx="1005840" cy="38404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AI</a:t>
            </a:r>
            <a:r>
              <a:rPr lang="en-US" sz="1000" b="1" dirty="0">
                <a:solidFill>
                  <a:srgbClr val="FFFFFF"/>
                </a:solidFill>
              </a:rPr>
              <a:t> – Sonnet 4.6</a:t>
            </a:r>
            <a:endParaRPr sz="1000" b="1" dirty="0">
              <a:solidFill>
                <a:srgbClr val="FFFFFF"/>
              </a:solidFill>
            </a:endParaRPr>
          </a:p>
        </p:txBody>
      </p:sp>
      <p:sp>
        <p:nvSpPr>
          <p:cNvPr id="20" name="Rectangle 19"/>
          <p:cNvSpPr/>
          <p:nvPr/>
        </p:nvSpPr>
        <p:spPr>
          <a:xfrm>
            <a:off x="640080" y="3621024"/>
            <a:ext cx="10908792" cy="566928"/>
          </a:xfrm>
          <a:prstGeom prst="rect">
            <a:avLst/>
          </a:prstGeom>
          <a:solidFill>
            <a:srgbClr val="F7F9FC"/>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77240" y="3621024"/>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5</a:t>
            </a:r>
          </a:p>
        </p:txBody>
      </p:sp>
      <p:sp>
        <p:nvSpPr>
          <p:cNvPr id="22" name="Rectangle 21"/>
          <p:cNvSpPr/>
          <p:nvPr/>
        </p:nvSpPr>
        <p:spPr>
          <a:xfrm>
            <a:off x="1645920" y="3621024"/>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Classify</a:t>
            </a:r>
          </a:p>
        </p:txBody>
      </p:sp>
      <p:sp>
        <p:nvSpPr>
          <p:cNvPr id="23" name="Rectangle 22"/>
          <p:cNvSpPr/>
          <p:nvPr/>
        </p:nvSpPr>
        <p:spPr>
          <a:xfrm>
            <a:off x="4480560" y="3621024"/>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Map each to the 40-field framework</a:t>
            </a:r>
          </a:p>
        </p:txBody>
      </p:sp>
      <p:sp>
        <p:nvSpPr>
          <p:cNvPr id="24" name="Rectangle 23"/>
          <p:cNvSpPr/>
          <p:nvPr/>
        </p:nvSpPr>
        <p:spPr>
          <a:xfrm>
            <a:off x="10332720" y="3712464"/>
            <a:ext cx="1005840" cy="38404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AI</a:t>
            </a:r>
            <a:r>
              <a:rPr lang="en-US" sz="1000" b="1" dirty="0">
                <a:solidFill>
                  <a:srgbClr val="FFFFFF"/>
                </a:solidFill>
              </a:rPr>
              <a:t> – Sonnet 4.6</a:t>
            </a:r>
            <a:endParaRPr sz="1000" b="1" dirty="0">
              <a:solidFill>
                <a:srgbClr val="FFFFFF"/>
              </a:solidFill>
            </a:endParaRPr>
          </a:p>
        </p:txBody>
      </p:sp>
      <p:sp>
        <p:nvSpPr>
          <p:cNvPr id="25" name="Rectangle 24"/>
          <p:cNvSpPr/>
          <p:nvPr/>
        </p:nvSpPr>
        <p:spPr>
          <a:xfrm>
            <a:off x="640080" y="4187952"/>
            <a:ext cx="10908792" cy="566928"/>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77240" y="4187952"/>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5b</a:t>
            </a:r>
          </a:p>
        </p:txBody>
      </p:sp>
      <p:sp>
        <p:nvSpPr>
          <p:cNvPr id="27" name="Rectangle 26"/>
          <p:cNvSpPr/>
          <p:nvPr/>
        </p:nvSpPr>
        <p:spPr>
          <a:xfrm>
            <a:off x="1645920" y="4187952"/>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Validate</a:t>
            </a:r>
          </a:p>
        </p:txBody>
      </p:sp>
      <p:sp>
        <p:nvSpPr>
          <p:cNvPr id="28" name="Rectangle 27"/>
          <p:cNvSpPr/>
          <p:nvPr/>
        </p:nvSpPr>
        <p:spPr>
          <a:xfrm>
            <a:off x="4480560" y="4187952"/>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Check choices, confidence-filter</a:t>
            </a:r>
          </a:p>
        </p:txBody>
      </p:sp>
      <p:sp>
        <p:nvSpPr>
          <p:cNvPr id="29" name="Rectangle 28"/>
          <p:cNvSpPr/>
          <p:nvPr/>
        </p:nvSpPr>
        <p:spPr>
          <a:xfrm>
            <a:off x="10332720" y="4279392"/>
            <a:ext cx="1005840" cy="384048"/>
          </a:xfrm>
          <a:prstGeom prst="rect">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Python</a:t>
            </a:r>
          </a:p>
        </p:txBody>
      </p:sp>
      <p:sp>
        <p:nvSpPr>
          <p:cNvPr id="30" name="Rectangle 29"/>
          <p:cNvSpPr/>
          <p:nvPr/>
        </p:nvSpPr>
        <p:spPr>
          <a:xfrm>
            <a:off x="640080" y="4754880"/>
            <a:ext cx="10908792" cy="566928"/>
          </a:xfrm>
          <a:prstGeom prst="rect">
            <a:avLst/>
          </a:prstGeom>
          <a:solidFill>
            <a:srgbClr val="F7F9FC"/>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77240" y="4754880"/>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6-8</a:t>
            </a:r>
          </a:p>
        </p:txBody>
      </p:sp>
      <p:sp>
        <p:nvSpPr>
          <p:cNvPr id="32" name="Rectangle 31"/>
          <p:cNvSpPr/>
          <p:nvPr/>
        </p:nvSpPr>
        <p:spPr>
          <a:xfrm>
            <a:off x="1645920" y="4754880"/>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Export</a:t>
            </a:r>
          </a:p>
        </p:txBody>
      </p:sp>
      <p:sp>
        <p:nvSpPr>
          <p:cNvPr id="33" name="Rectangle 32"/>
          <p:cNvSpPr/>
          <p:nvPr/>
        </p:nvSpPr>
        <p:spPr>
          <a:xfrm>
            <a:off x="4480560" y="4754880"/>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review_rows.xlsx, payload, HTML report</a:t>
            </a:r>
          </a:p>
        </p:txBody>
      </p:sp>
      <p:sp>
        <p:nvSpPr>
          <p:cNvPr id="34" name="Rectangle 33"/>
          <p:cNvSpPr/>
          <p:nvPr/>
        </p:nvSpPr>
        <p:spPr>
          <a:xfrm>
            <a:off x="10332720" y="4846320"/>
            <a:ext cx="1005840" cy="384048"/>
          </a:xfrm>
          <a:prstGeom prst="rect">
            <a:avLst/>
          </a:prstGeom>
          <a:solidFill>
            <a:srgbClr val="00B0F0"/>
          </a:solidFill>
          <a:ln>
            <a:solidFill>
              <a:schemeClr val="tx1">
                <a:lumMod val="65000"/>
                <a:lumOff val="35000"/>
              </a:schemeClr>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Python</a:t>
            </a:r>
          </a:p>
        </p:txBody>
      </p:sp>
      <p:sp>
        <p:nvSpPr>
          <p:cNvPr id="35" name="Rectangle 34"/>
          <p:cNvSpPr/>
          <p:nvPr/>
        </p:nvSpPr>
        <p:spPr>
          <a:xfrm>
            <a:off x="640080" y="5321808"/>
            <a:ext cx="10908792" cy="566928"/>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77240" y="5321808"/>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9-11</a:t>
            </a:r>
          </a:p>
        </p:txBody>
      </p:sp>
      <p:sp>
        <p:nvSpPr>
          <p:cNvPr id="37" name="Rectangle 36"/>
          <p:cNvSpPr/>
          <p:nvPr/>
        </p:nvSpPr>
        <p:spPr>
          <a:xfrm>
            <a:off x="1645920" y="5321808"/>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Archive + Report</a:t>
            </a:r>
          </a:p>
        </p:txBody>
      </p:sp>
      <p:sp>
        <p:nvSpPr>
          <p:cNvPr id="38" name="Rectangle 37"/>
          <p:cNvSpPr/>
          <p:nvPr/>
        </p:nvSpPr>
        <p:spPr>
          <a:xfrm>
            <a:off x="4480560" y="5321808"/>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History store, weekly + monthly reports</a:t>
            </a:r>
          </a:p>
        </p:txBody>
      </p:sp>
      <p:sp>
        <p:nvSpPr>
          <p:cNvPr id="39" name="Rectangle 38"/>
          <p:cNvSpPr/>
          <p:nvPr/>
        </p:nvSpPr>
        <p:spPr>
          <a:xfrm>
            <a:off x="10332720" y="5413248"/>
            <a:ext cx="1005840" cy="384048"/>
          </a:xfrm>
          <a:prstGeom prst="rect">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Python</a:t>
            </a:r>
          </a:p>
        </p:txBody>
      </p:sp>
      <p:sp>
        <p:nvSpPr>
          <p:cNvPr id="40" name="Rectangle 39"/>
          <p:cNvSpPr/>
          <p:nvPr/>
        </p:nvSpPr>
        <p:spPr>
          <a:xfrm>
            <a:off x="640080" y="5888736"/>
            <a:ext cx="10908792" cy="566928"/>
          </a:xfrm>
          <a:prstGeom prst="rect">
            <a:avLst/>
          </a:prstGeom>
          <a:solidFill>
            <a:srgbClr val="F7F9FC"/>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77240" y="5888736"/>
            <a:ext cx="82296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1F3864"/>
                </a:solidFill>
              </a:rPr>
              <a:t>9c</a:t>
            </a:r>
          </a:p>
        </p:txBody>
      </p:sp>
      <p:sp>
        <p:nvSpPr>
          <p:cNvPr id="42" name="Rectangle 41"/>
          <p:cNvSpPr/>
          <p:nvPr/>
        </p:nvSpPr>
        <p:spPr>
          <a:xfrm>
            <a:off x="1645920" y="5888736"/>
            <a:ext cx="27432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1">
                <a:solidFill>
                  <a:srgbClr val="2C3E50"/>
                </a:solidFill>
              </a:rPr>
              <a:t>ADO push (opt-in)</a:t>
            </a:r>
          </a:p>
        </p:txBody>
      </p:sp>
      <p:sp>
        <p:nvSpPr>
          <p:cNvPr id="43" name="Rectangle 42"/>
          <p:cNvSpPr/>
          <p:nvPr/>
        </p:nvSpPr>
        <p:spPr>
          <a:xfrm>
            <a:off x="4480560" y="5888736"/>
            <a:ext cx="5486400" cy="56692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Create tracked Issues after review</a:t>
            </a:r>
          </a:p>
        </p:txBody>
      </p:sp>
      <p:sp>
        <p:nvSpPr>
          <p:cNvPr id="44" name="Rectangle 43"/>
          <p:cNvSpPr/>
          <p:nvPr/>
        </p:nvSpPr>
        <p:spPr>
          <a:xfrm>
            <a:off x="10332720" y="5980176"/>
            <a:ext cx="1005840" cy="384048"/>
          </a:xfrm>
          <a:prstGeom prst="rect">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FFFFFF"/>
                </a:solidFill>
              </a:rPr>
              <a:t>Python</a:t>
            </a:r>
          </a:p>
        </p:txBody>
      </p:sp>
      <p:sp>
        <p:nvSpPr>
          <p:cNvPr id="45" name="Rectangle 44"/>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How It Works - AI vs. Deterministic</a:t>
            </a:r>
          </a:p>
          <a:p>
            <a:pPr algn="l"/>
            <a:r>
              <a:rPr sz="1200" b="0">
                <a:solidFill>
                  <a:srgbClr val="B9C4D1"/>
                </a:solidFill>
              </a:rPr>
              <a:t>Two AI steps. Everything else is plain code.</a:t>
            </a:r>
          </a:p>
        </p:txBody>
      </p:sp>
      <p:sp>
        <p:nvSpPr>
          <p:cNvPr id="4" name="Rectangle 3"/>
          <p:cNvSpPr/>
          <p:nvPr/>
        </p:nvSpPr>
        <p:spPr>
          <a:xfrm>
            <a:off x="640080" y="1554480"/>
            <a:ext cx="5394960" cy="42062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54480"/>
            <a:ext cx="5394960"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04672" y="1737360"/>
            <a:ext cx="50657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AI does the SEMANTIC work (2 steps)</a:t>
            </a:r>
          </a:p>
        </p:txBody>
      </p:sp>
      <p:sp>
        <p:nvSpPr>
          <p:cNvPr id="7" name="Rectangle 6"/>
          <p:cNvSpPr/>
          <p:nvPr/>
        </p:nvSpPr>
        <p:spPr>
          <a:xfrm>
            <a:off x="804672" y="2267712"/>
            <a:ext cx="5065776" cy="33375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200" dirty="0">
                <a:solidFill>
                  <a:srgbClr val="2C3E50"/>
                </a:solidFill>
              </a:rPr>
              <a:t>•  Extraction: reads filtered chunks and asks 'is this a real AI opportunity?'</a:t>
            </a:r>
          </a:p>
          <a:p>
            <a:endParaRPr sz="1200" dirty="0">
              <a:solidFill>
                <a:srgbClr val="2C3E50"/>
              </a:solidFill>
            </a:endParaRPr>
          </a:p>
          <a:p>
            <a:pPr algn="l"/>
            <a:r>
              <a:rPr sz="1200" dirty="0">
                <a:solidFill>
                  <a:srgbClr val="2C3E50"/>
                </a:solidFill>
              </a:rPr>
              <a:t>•  Classification: fills ~40 framework fields per opportunity</a:t>
            </a:r>
          </a:p>
          <a:p>
            <a:endParaRPr sz="1200" dirty="0">
              <a:solidFill>
                <a:srgbClr val="2C3E50"/>
              </a:solidFill>
            </a:endParaRPr>
          </a:p>
          <a:p>
            <a:pPr algn="l"/>
            <a:r>
              <a:rPr sz="1200" dirty="0">
                <a:solidFill>
                  <a:srgbClr val="2C3E50"/>
                </a:solidFill>
              </a:rPr>
              <a:t>•  One model call per chunk / per candidate - small, cheap prompts</a:t>
            </a:r>
          </a:p>
          <a:p>
            <a:endParaRPr sz="1200" dirty="0">
              <a:solidFill>
                <a:srgbClr val="2C3E50"/>
              </a:solidFill>
            </a:endParaRPr>
          </a:p>
          <a:p>
            <a:pPr algn="l"/>
            <a:r>
              <a:rPr sz="1200" dirty="0">
                <a:solidFill>
                  <a:srgbClr val="2C3E50"/>
                </a:solidFill>
              </a:rPr>
              <a:t>•  Runs on GitHub Copilot SDK by default (or OpenAI if a key is set)</a:t>
            </a:r>
          </a:p>
          <a:p>
            <a:pPr algn="l"/>
            <a:endParaRPr sz="1200" dirty="0">
              <a:solidFill>
                <a:srgbClr val="2C3E50"/>
              </a:solidFill>
            </a:endParaRPr>
          </a:p>
          <a:p>
            <a:pPr algn="l"/>
            <a:r>
              <a:rPr sz="1200" dirty="0">
                <a:solidFill>
                  <a:srgbClr val="2C3E50"/>
                </a:solidFill>
              </a:rPr>
              <a:t>•  Why AI here? Judgement, nuance, and language understanding that rules can't capture.</a:t>
            </a:r>
          </a:p>
        </p:txBody>
      </p:sp>
      <p:sp>
        <p:nvSpPr>
          <p:cNvPr id="8" name="Rectangle 7"/>
          <p:cNvSpPr/>
          <p:nvPr/>
        </p:nvSpPr>
        <p:spPr>
          <a:xfrm>
            <a:off x="6217920" y="1554480"/>
            <a:ext cx="5330952" cy="42062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17920" y="1554480"/>
            <a:ext cx="5330952"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82512" y="1737360"/>
            <a:ext cx="50017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Python does EVERYTHING else (deterministic)</a:t>
            </a:r>
          </a:p>
        </p:txBody>
      </p:sp>
      <p:sp>
        <p:nvSpPr>
          <p:cNvPr id="11" name="Rectangle 10"/>
          <p:cNvSpPr/>
          <p:nvPr/>
        </p:nvSpPr>
        <p:spPr>
          <a:xfrm>
            <a:off x="6382512" y="2267712"/>
            <a:ext cx="5001768" cy="33375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200" dirty="0">
                <a:solidFill>
                  <a:srgbClr val="2C3E50"/>
                </a:solidFill>
              </a:rPr>
              <a:t>•  DOCX reading, cleaning, speaker-turn splitting</a:t>
            </a:r>
          </a:p>
          <a:p>
            <a:endParaRPr sz="1200" dirty="0">
              <a:solidFill>
                <a:srgbClr val="2C3E50"/>
              </a:solidFill>
            </a:endParaRPr>
          </a:p>
          <a:p>
            <a:pPr algn="l"/>
            <a:r>
              <a:rPr sz="1200" dirty="0">
                <a:solidFill>
                  <a:srgbClr val="2C3E50"/>
                </a:solidFill>
              </a:rPr>
              <a:t>•  Keyword filtering and chunking (token control)</a:t>
            </a:r>
          </a:p>
          <a:p>
            <a:endParaRPr sz="1200" dirty="0">
              <a:solidFill>
                <a:srgbClr val="2C3E50"/>
              </a:solidFill>
            </a:endParaRPr>
          </a:p>
          <a:p>
            <a:pPr algn="l"/>
            <a:r>
              <a:rPr sz="1200" dirty="0">
                <a:solidFill>
                  <a:srgbClr val="2C3E50"/>
                </a:solidFill>
              </a:rPr>
              <a:t>•  JSON validation against allowed choice values</a:t>
            </a:r>
          </a:p>
          <a:p>
            <a:endParaRPr sz="1200" dirty="0">
              <a:solidFill>
                <a:srgbClr val="2C3E50"/>
              </a:solidFill>
            </a:endParaRPr>
          </a:p>
          <a:p>
            <a:pPr algn="l"/>
            <a:r>
              <a:rPr sz="1200" dirty="0">
                <a:solidFill>
                  <a:srgbClr val="2C3E50"/>
                </a:solidFill>
              </a:rPr>
              <a:t>•  Excel export, payload building, HTML report generation</a:t>
            </a:r>
          </a:p>
          <a:p>
            <a:endParaRPr sz="1200" dirty="0">
              <a:solidFill>
                <a:srgbClr val="2C3E50"/>
              </a:solidFill>
            </a:endParaRPr>
          </a:p>
          <a:p>
            <a:pPr algn="l"/>
            <a:r>
              <a:rPr sz="1200" dirty="0">
                <a:solidFill>
                  <a:srgbClr val="2C3E50"/>
                </a:solidFill>
              </a:rPr>
              <a:t>•  History store, trend analysis, </a:t>
            </a:r>
            <a:r>
              <a:rPr sz="1200" dirty="0" err="1">
                <a:solidFill>
                  <a:srgbClr val="2C3E50"/>
                </a:solidFill>
              </a:rPr>
              <a:t>dedup</a:t>
            </a:r>
            <a:r>
              <a:rPr sz="1200" dirty="0">
                <a:solidFill>
                  <a:srgbClr val="2C3E50"/>
                </a:solidFill>
              </a:rPr>
              <a:t> matching</a:t>
            </a:r>
          </a:p>
          <a:p>
            <a:endParaRPr sz="1200" dirty="0">
              <a:solidFill>
                <a:srgbClr val="2C3E50"/>
              </a:solidFill>
            </a:endParaRPr>
          </a:p>
          <a:p>
            <a:pPr algn="l"/>
            <a:r>
              <a:rPr sz="1200" dirty="0">
                <a:solidFill>
                  <a:srgbClr val="2C3E50"/>
                </a:solidFill>
              </a:rPr>
              <a:t>•  ADO REST API calls (push + status sync)</a:t>
            </a:r>
          </a:p>
          <a:p>
            <a:endParaRPr sz="1200" dirty="0">
              <a:solidFill>
                <a:srgbClr val="2C3E50"/>
              </a:solidFill>
            </a:endParaRPr>
          </a:p>
          <a:p>
            <a:pPr algn="l"/>
            <a:r>
              <a:rPr sz="1200" dirty="0">
                <a:solidFill>
                  <a:srgbClr val="2C3E50"/>
                </a:solidFill>
              </a:rPr>
              <a:t>•  Why Python here? Reproducible, free, fast, and testable.</a:t>
            </a:r>
          </a:p>
        </p:txBody>
      </p:sp>
      <p:sp>
        <p:nvSpPr>
          <p:cNvPr id="12" name="Rectangle 11"/>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The Classification Framework</a:t>
            </a:r>
          </a:p>
          <a:p>
            <a:pPr algn="l"/>
            <a:r>
              <a:rPr sz="1200" b="0">
                <a:solidFill>
                  <a:srgbClr val="B9C4D1"/>
                </a:solidFill>
              </a:rPr>
              <a:t>A shared language for every opportunity</a:t>
            </a:r>
          </a:p>
        </p:txBody>
      </p:sp>
      <p:sp>
        <p:nvSpPr>
          <p:cNvPr id="4" name="Rectangle 3"/>
          <p:cNvSpPr/>
          <p:nvPr/>
        </p:nvSpPr>
        <p:spPr>
          <a:xfrm>
            <a:off x="640080" y="1371600"/>
            <a:ext cx="1090879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0">
                <a:solidFill>
                  <a:srgbClr val="2C3E50"/>
                </a:solidFill>
              </a:rPr>
              <a:t>Each opportunity is mapped onto consistent dimensions so they can be compared, prioritized, and tracked over time.</a:t>
            </a:r>
          </a:p>
        </p:txBody>
      </p:sp>
      <p:sp>
        <p:nvSpPr>
          <p:cNvPr id="5" name="Rectangle 4"/>
          <p:cNvSpPr/>
          <p:nvPr/>
        </p:nvSpPr>
        <p:spPr>
          <a:xfrm>
            <a:off x="640080" y="219456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194560"/>
            <a:ext cx="109728" cy="141732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235915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AI Use Case Type</a:t>
            </a:r>
          </a:p>
        </p:txBody>
      </p:sp>
      <p:sp>
        <p:nvSpPr>
          <p:cNvPr id="8" name="Rectangle 7"/>
          <p:cNvSpPr/>
          <p:nvPr/>
        </p:nvSpPr>
        <p:spPr>
          <a:xfrm>
            <a:off x="914400" y="283464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Classification - Action - Both</a:t>
            </a:r>
          </a:p>
        </p:txBody>
      </p:sp>
      <p:sp>
        <p:nvSpPr>
          <p:cNvPr id="9" name="Rectangle 8"/>
          <p:cNvSpPr/>
          <p:nvPr/>
        </p:nvSpPr>
        <p:spPr>
          <a:xfrm>
            <a:off x="4434840" y="219456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434840" y="2194560"/>
            <a:ext cx="109728" cy="1417320"/>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235915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Operating Bucket</a:t>
            </a:r>
          </a:p>
        </p:txBody>
      </p:sp>
      <p:sp>
        <p:nvSpPr>
          <p:cNvPr id="12" name="Rectangle 11"/>
          <p:cNvSpPr/>
          <p:nvPr/>
        </p:nvSpPr>
        <p:spPr>
          <a:xfrm>
            <a:off x="4709160" y="283464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Pre-Sale, Manufacturing, Post-Shipment, Governance...</a:t>
            </a:r>
          </a:p>
        </p:txBody>
      </p:sp>
      <p:sp>
        <p:nvSpPr>
          <p:cNvPr id="13" name="Rectangle 12"/>
          <p:cNvSpPr/>
          <p:nvPr/>
        </p:nvSpPr>
        <p:spPr>
          <a:xfrm>
            <a:off x="8229600" y="219456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0" y="2194560"/>
            <a:ext cx="109728" cy="1417320"/>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3920" y="235915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Level of Analysis</a:t>
            </a:r>
          </a:p>
        </p:txBody>
      </p:sp>
      <p:sp>
        <p:nvSpPr>
          <p:cNvPr id="16" name="Rectangle 15"/>
          <p:cNvSpPr/>
          <p:nvPr/>
        </p:nvSpPr>
        <p:spPr>
          <a:xfrm>
            <a:off x="8503920" y="283464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0 Signal -&gt; 7 Release Candidate</a:t>
            </a:r>
          </a:p>
        </p:txBody>
      </p:sp>
      <p:sp>
        <p:nvSpPr>
          <p:cNvPr id="17" name="Rectangle 16"/>
          <p:cNvSpPr/>
          <p:nvPr/>
        </p:nvSpPr>
        <p:spPr>
          <a:xfrm>
            <a:off x="640080" y="384048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0080" y="3840480"/>
            <a:ext cx="109728" cy="1417320"/>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14400" y="400507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Maturity Signal</a:t>
            </a:r>
          </a:p>
        </p:txBody>
      </p:sp>
      <p:sp>
        <p:nvSpPr>
          <p:cNvPr id="20" name="Rectangle 19"/>
          <p:cNvSpPr/>
          <p:nvPr/>
        </p:nvSpPr>
        <p:spPr>
          <a:xfrm>
            <a:off x="914400" y="448056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Aspirational -&gt; Exploring -&gt; Piloting -&gt; Deployed</a:t>
            </a:r>
          </a:p>
        </p:txBody>
      </p:sp>
      <p:sp>
        <p:nvSpPr>
          <p:cNvPr id="21" name="Rectangle 20"/>
          <p:cNvSpPr/>
          <p:nvPr/>
        </p:nvSpPr>
        <p:spPr>
          <a:xfrm>
            <a:off x="4434840" y="384048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434840" y="3840480"/>
            <a:ext cx="109728" cy="141732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09160" y="400507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Signal Strength</a:t>
            </a:r>
          </a:p>
        </p:txBody>
      </p:sp>
      <p:sp>
        <p:nvSpPr>
          <p:cNvPr id="24" name="Rectangle 23"/>
          <p:cNvSpPr/>
          <p:nvPr/>
        </p:nvSpPr>
        <p:spPr>
          <a:xfrm>
            <a:off x="4709160" y="448056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Isolated -&gt; Cross-Functional -&gt; Leadership Priority</a:t>
            </a:r>
          </a:p>
        </p:txBody>
      </p:sp>
      <p:sp>
        <p:nvSpPr>
          <p:cNvPr id="25" name="Rectangle 24"/>
          <p:cNvSpPr/>
          <p:nvPr/>
        </p:nvSpPr>
        <p:spPr>
          <a:xfrm>
            <a:off x="8229600" y="3840480"/>
            <a:ext cx="3611880" cy="141732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229600" y="3840480"/>
            <a:ext cx="109728" cy="1417320"/>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503920" y="4005072"/>
            <a:ext cx="324612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Value / Effort / Risk</a:t>
            </a:r>
          </a:p>
        </p:txBody>
      </p:sp>
      <p:sp>
        <p:nvSpPr>
          <p:cNvPr id="28" name="Rectangle 27"/>
          <p:cNvSpPr/>
          <p:nvPr/>
        </p:nvSpPr>
        <p:spPr>
          <a:xfrm>
            <a:off x="8503920" y="4480560"/>
            <a:ext cx="324612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0">
                <a:solidFill>
                  <a:srgbClr val="2C3E50"/>
                </a:solidFill>
              </a:rPr>
              <a:t>1-5 scores for prioritization</a:t>
            </a:r>
          </a:p>
        </p:txBody>
      </p:sp>
      <p:sp>
        <p:nvSpPr>
          <p:cNvPr id="29" name="Rectangle 28"/>
          <p:cNvSpPr/>
          <p:nvPr/>
        </p:nvSpPr>
        <p:spPr>
          <a:xfrm>
            <a:off x="640080" y="5852160"/>
            <a:ext cx="10908792" cy="50292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The framework is just config (JSON). Swap it, and the same engine classifies a completely different domain.</a:t>
            </a:r>
          </a:p>
        </p:txBody>
      </p:sp>
      <p:sp>
        <p:nvSpPr>
          <p:cNvPr id="30" name="Rectangle 29"/>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The Outputs</a:t>
            </a:r>
          </a:p>
          <a:p>
            <a:pPr algn="l"/>
            <a:r>
              <a:rPr sz="1200" b="0">
                <a:solidFill>
                  <a:srgbClr val="B9C4D1"/>
                </a:solidFill>
              </a:rPr>
              <a:t>Self-contained, shareable, no server needed</a:t>
            </a:r>
          </a:p>
        </p:txBody>
      </p:sp>
      <p:sp>
        <p:nvSpPr>
          <p:cNvPr id="4" name="Rectangle 3"/>
          <p:cNvSpPr/>
          <p:nvPr/>
        </p:nvSpPr>
        <p:spPr>
          <a:xfrm>
            <a:off x="640080" y="1463040"/>
            <a:ext cx="5394960" cy="224028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463040"/>
            <a:ext cx="5394960"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04672" y="1645920"/>
            <a:ext cx="50657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Weekly report (5 tabs)</a:t>
            </a:r>
          </a:p>
        </p:txBody>
      </p:sp>
      <p:sp>
        <p:nvSpPr>
          <p:cNvPr id="7" name="Rectangle 6"/>
          <p:cNvSpPr/>
          <p:nvPr/>
        </p:nvSpPr>
        <p:spPr>
          <a:xfrm>
            <a:off x="804672" y="2176272"/>
            <a:ext cx="5065776"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Cards - one per opportunity, with ADO status chip</a:t>
            </a:r>
          </a:p>
          <a:p>
            <a:endParaRPr sz="1100">
              <a:solidFill>
                <a:srgbClr val="2C3E50"/>
              </a:solidFill>
            </a:endParaRPr>
          </a:p>
          <a:p>
            <a:pPr algn="l"/>
            <a:r>
              <a:rPr sz="1100">
                <a:solidFill>
                  <a:srgbClr val="2C3E50"/>
                </a:solidFill>
              </a:rPr>
              <a:t>•  Analytics - charts by bucket, type, level, maturity</a:t>
            </a:r>
          </a:p>
          <a:p>
            <a:endParaRPr sz="1100">
              <a:solidFill>
                <a:srgbClr val="2C3E50"/>
              </a:solidFill>
            </a:endParaRPr>
          </a:p>
          <a:p>
            <a:pPr algn="l"/>
            <a:r>
              <a:rPr sz="1100">
                <a:solidFill>
                  <a:srgbClr val="2C3E50"/>
                </a:solidFill>
              </a:rPr>
              <a:t>•  Full Table - all 40 fields, sortable</a:t>
            </a:r>
          </a:p>
          <a:p>
            <a:endParaRPr sz="1100">
              <a:solidFill>
                <a:srgbClr val="2C3E50"/>
              </a:solidFill>
            </a:endParaRPr>
          </a:p>
          <a:p>
            <a:pPr algn="l"/>
            <a:r>
              <a:rPr sz="1100">
                <a:solidFill>
                  <a:srgbClr val="2C3E50"/>
                </a:solidFill>
              </a:rPr>
              <a:t>•  Trends - new vs. carried-over, week-over-week movement</a:t>
            </a:r>
          </a:p>
          <a:p>
            <a:endParaRPr sz="1100">
              <a:solidFill>
                <a:srgbClr val="2C3E50"/>
              </a:solidFill>
            </a:endParaRPr>
          </a:p>
          <a:p>
            <a:pPr algn="l"/>
            <a:r>
              <a:rPr sz="1100">
                <a:solidFill>
                  <a:srgbClr val="2C3E50"/>
                </a:solidFill>
              </a:rPr>
              <a:t>•  Progress - live ADO status, grouped by state</a:t>
            </a:r>
          </a:p>
        </p:txBody>
      </p:sp>
      <p:sp>
        <p:nvSpPr>
          <p:cNvPr id="8" name="Rectangle 7"/>
          <p:cNvSpPr/>
          <p:nvPr/>
        </p:nvSpPr>
        <p:spPr>
          <a:xfrm>
            <a:off x="6217920" y="1463040"/>
            <a:ext cx="5330952" cy="224028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17920" y="1463040"/>
            <a:ext cx="5330952"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82512" y="1645920"/>
            <a:ext cx="50017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Monthly rollup</a:t>
            </a:r>
          </a:p>
        </p:txBody>
      </p:sp>
      <p:sp>
        <p:nvSpPr>
          <p:cNvPr id="11" name="Rectangle 10"/>
          <p:cNvSpPr/>
          <p:nvPr/>
        </p:nvSpPr>
        <p:spPr>
          <a:xfrm>
            <a:off x="6382512" y="2176272"/>
            <a:ext cx="5001768"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Unique opportunity count, weeks covered</a:t>
            </a:r>
          </a:p>
          <a:p>
            <a:endParaRPr sz="1100">
              <a:solidFill>
                <a:srgbClr val="2C3E50"/>
              </a:solidFill>
            </a:endParaRPr>
          </a:p>
          <a:p>
            <a:pPr algn="l"/>
            <a:r>
              <a:rPr sz="1100">
                <a:solidFill>
                  <a:srgbClr val="2C3E50"/>
                </a:solidFill>
              </a:rPr>
              <a:t>•  New vs. carried-from-prior month</a:t>
            </a:r>
          </a:p>
          <a:p>
            <a:endParaRPr sz="1100">
              <a:solidFill>
                <a:srgbClr val="2C3E50"/>
              </a:solidFill>
            </a:endParaRPr>
          </a:p>
          <a:p>
            <a:pPr algn="l"/>
            <a:r>
              <a:rPr sz="1100">
                <a:solidFill>
                  <a:srgbClr val="2C3E50"/>
                </a:solidFill>
              </a:rPr>
              <a:t>•  Per-week bucket distribution</a:t>
            </a:r>
          </a:p>
          <a:p>
            <a:endParaRPr sz="1100">
              <a:solidFill>
                <a:srgbClr val="2C3E50"/>
              </a:solidFill>
            </a:endParaRPr>
          </a:p>
          <a:p>
            <a:pPr algn="l"/>
            <a:r>
              <a:rPr sz="1100">
                <a:solidFill>
                  <a:srgbClr val="2C3E50"/>
                </a:solidFill>
              </a:rPr>
              <a:t>•  Signal / level momentum (escalations)</a:t>
            </a:r>
          </a:p>
          <a:p>
            <a:endParaRPr sz="1100">
              <a:solidFill>
                <a:srgbClr val="2C3E50"/>
              </a:solidFill>
            </a:endParaRPr>
          </a:p>
          <a:p>
            <a:pPr algn="l"/>
            <a:r>
              <a:rPr sz="1100">
                <a:solidFill>
                  <a:srgbClr val="2C3E50"/>
                </a:solidFill>
              </a:rPr>
              <a:t>•  Full table with first-seen / last-seen</a:t>
            </a:r>
          </a:p>
        </p:txBody>
      </p:sp>
      <p:sp>
        <p:nvSpPr>
          <p:cNvPr id="12" name="Rectangle 11"/>
          <p:cNvSpPr/>
          <p:nvPr/>
        </p:nvSpPr>
        <p:spPr>
          <a:xfrm>
            <a:off x="640080" y="3886200"/>
            <a:ext cx="5394960" cy="19202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40080" y="3886200"/>
            <a:ext cx="5394960" cy="109728"/>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4672" y="4069080"/>
            <a:ext cx="50657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For review &amp; hand-off</a:t>
            </a:r>
          </a:p>
        </p:txBody>
      </p:sp>
      <p:sp>
        <p:nvSpPr>
          <p:cNvPr id="15" name="Rectangle 14"/>
          <p:cNvSpPr/>
          <p:nvPr/>
        </p:nvSpPr>
        <p:spPr>
          <a:xfrm>
            <a:off x="804672" y="4599432"/>
            <a:ext cx="5065776" cy="10515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review_rows.xlsx - human review workbook</a:t>
            </a:r>
          </a:p>
          <a:p>
            <a:endParaRPr sz="1100">
              <a:solidFill>
                <a:srgbClr val="2C3E50"/>
              </a:solidFill>
            </a:endParaRPr>
          </a:p>
          <a:p>
            <a:pPr algn="l"/>
            <a:r>
              <a:rPr sz="1100">
                <a:solidFill>
                  <a:srgbClr val="2C3E50"/>
                </a:solidFill>
              </a:rPr>
              <a:t>•  sharepoint_payload.json - draft SharePoint rows</a:t>
            </a:r>
          </a:p>
          <a:p>
            <a:endParaRPr sz="1100">
              <a:solidFill>
                <a:srgbClr val="2C3E50"/>
              </a:solidFill>
            </a:endParaRPr>
          </a:p>
          <a:p>
            <a:pPr algn="l"/>
            <a:r>
              <a:rPr sz="1100">
                <a:solidFill>
                  <a:srgbClr val="2C3E50"/>
                </a:solidFill>
              </a:rPr>
              <a:t>•  master_opportunities.xlsx - Power BI source (incl. ADO columns)</a:t>
            </a:r>
          </a:p>
        </p:txBody>
      </p:sp>
      <p:sp>
        <p:nvSpPr>
          <p:cNvPr id="16" name="Rectangle 15"/>
          <p:cNvSpPr/>
          <p:nvPr/>
        </p:nvSpPr>
        <p:spPr>
          <a:xfrm>
            <a:off x="6217920" y="3886200"/>
            <a:ext cx="5330952" cy="19202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17920" y="3886200"/>
            <a:ext cx="5330952" cy="109728"/>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82512" y="4069080"/>
            <a:ext cx="50017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For the meeting</a:t>
            </a:r>
          </a:p>
        </p:txBody>
      </p:sp>
      <p:sp>
        <p:nvSpPr>
          <p:cNvPr id="19" name="Rectangle 18"/>
          <p:cNvSpPr/>
          <p:nvPr/>
        </p:nvSpPr>
        <p:spPr>
          <a:xfrm>
            <a:off x="6382512" y="4599432"/>
            <a:ext cx="5001768" cy="10515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Auto-generated PPTX deck for the upcoming session</a:t>
            </a:r>
          </a:p>
          <a:p>
            <a:endParaRPr sz="1100">
              <a:solidFill>
                <a:srgbClr val="2C3E50"/>
              </a:solidFill>
            </a:endParaRPr>
          </a:p>
          <a:p>
            <a:pPr algn="l"/>
            <a:r>
              <a:rPr sz="1100">
                <a:solidFill>
                  <a:srgbClr val="2C3E50"/>
                </a:solidFill>
              </a:rPr>
              <a:t>•  Demo backlog, KB candidates, next steps</a:t>
            </a:r>
          </a:p>
          <a:p>
            <a:endParaRPr sz="1100">
              <a:solidFill>
                <a:srgbClr val="2C3E50"/>
              </a:solidFill>
            </a:endParaRPr>
          </a:p>
          <a:p>
            <a:pPr algn="l"/>
            <a:r>
              <a:rPr sz="1100">
                <a:solidFill>
                  <a:srgbClr val="2C3E50"/>
                </a:solidFill>
              </a:rPr>
              <a:t>•  Built from accumulated history, not by hand</a:t>
            </a:r>
          </a:p>
        </p:txBody>
      </p:sp>
      <p:sp>
        <p:nvSpPr>
          <p:cNvPr id="20" name="Rectangle 19"/>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Closing the Loop - Azure DevOps</a:t>
            </a:r>
          </a:p>
          <a:p>
            <a:pPr algn="l"/>
            <a:r>
              <a:rPr sz="1200" b="0">
                <a:solidFill>
                  <a:srgbClr val="B9C4D1"/>
                </a:solidFill>
              </a:rPr>
              <a:t>From 'we discussed it' to 'someone owns it'</a:t>
            </a:r>
          </a:p>
        </p:txBody>
      </p:sp>
      <p:sp>
        <p:nvSpPr>
          <p:cNvPr id="4" name="Rectangle 3"/>
          <p:cNvSpPr/>
          <p:nvPr/>
        </p:nvSpPr>
        <p:spPr>
          <a:xfrm>
            <a:off x="640080" y="1371600"/>
            <a:ext cx="10908792" cy="685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500" b="0">
                <a:solidFill>
                  <a:srgbClr val="2C3E50"/>
                </a:solidFill>
              </a:rPr>
              <a:t>The newest capability. Identified opportunities only deliver value if someone picks them up. ADO integration was added to close that gap.</a:t>
            </a:r>
          </a:p>
        </p:txBody>
      </p:sp>
      <p:sp>
        <p:nvSpPr>
          <p:cNvPr id="5" name="Rectangle 4"/>
          <p:cNvSpPr/>
          <p:nvPr/>
        </p:nvSpPr>
        <p:spPr>
          <a:xfrm>
            <a:off x="640080" y="2240280"/>
            <a:ext cx="3566160" cy="27432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240280"/>
            <a:ext cx="3566160" cy="109728"/>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04672" y="2423160"/>
            <a:ext cx="32369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Push (opt-in)</a:t>
            </a:r>
          </a:p>
        </p:txBody>
      </p:sp>
      <p:sp>
        <p:nvSpPr>
          <p:cNvPr id="8" name="Rectangle 7"/>
          <p:cNvSpPr/>
          <p:nvPr/>
        </p:nvSpPr>
        <p:spPr>
          <a:xfrm>
            <a:off x="804672" y="2953512"/>
            <a:ext cx="3236976" cy="1874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After review, run with --push-ado</a:t>
            </a:r>
          </a:p>
          <a:p>
            <a:endParaRPr sz="1100">
              <a:solidFill>
                <a:srgbClr val="2C3E50"/>
              </a:solidFill>
            </a:endParaRPr>
          </a:p>
          <a:p>
            <a:pPr algn="l"/>
            <a:r>
              <a:rPr sz="1100">
                <a:solidFill>
                  <a:srgbClr val="2C3E50"/>
                </a:solidFill>
              </a:rPr>
              <a:t>•  Each approved opportunity becomes a tracked ADO Issue</a:t>
            </a:r>
          </a:p>
          <a:p>
            <a:endParaRPr sz="1100">
              <a:solidFill>
                <a:srgbClr val="2C3E50"/>
              </a:solidFill>
            </a:endParaRPr>
          </a:p>
          <a:p>
            <a:pPr algn="l"/>
            <a:r>
              <a:rPr sz="1100">
                <a:solidFill>
                  <a:srgbClr val="2C3E50"/>
                </a:solidFill>
              </a:rPr>
              <a:t>•  Rich description: problem, evidence, next step, metadata</a:t>
            </a:r>
          </a:p>
          <a:p>
            <a:endParaRPr sz="1100">
              <a:solidFill>
                <a:srgbClr val="2C3E50"/>
              </a:solidFill>
            </a:endParaRPr>
          </a:p>
          <a:p>
            <a:pPr algn="l"/>
            <a:r>
              <a:rPr sz="1100">
                <a:solidFill>
                  <a:srgbClr val="2C3E50"/>
                </a:solidFill>
              </a:rPr>
              <a:t>•  Title-based dedup - safe to re-run</a:t>
            </a:r>
          </a:p>
        </p:txBody>
      </p:sp>
      <p:sp>
        <p:nvSpPr>
          <p:cNvPr id="9" name="Rectangle 8"/>
          <p:cNvSpPr/>
          <p:nvPr/>
        </p:nvSpPr>
        <p:spPr>
          <a:xfrm>
            <a:off x="4343400" y="2240280"/>
            <a:ext cx="3566160" cy="27432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3400" y="2240280"/>
            <a:ext cx="3566160"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07992" y="2423160"/>
            <a:ext cx="32369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Sync (automatic)</a:t>
            </a:r>
          </a:p>
        </p:txBody>
      </p:sp>
      <p:sp>
        <p:nvSpPr>
          <p:cNvPr id="12" name="Rectangle 11"/>
          <p:cNvSpPr/>
          <p:nvPr/>
        </p:nvSpPr>
        <p:spPr>
          <a:xfrm>
            <a:off x="4507992" y="2953512"/>
            <a:ext cx="3236976" cy="1874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Every weekly run pulls live ADO status first</a:t>
            </a:r>
          </a:p>
          <a:p>
            <a:endParaRPr sz="1100">
              <a:solidFill>
                <a:srgbClr val="2C3E50"/>
              </a:solidFill>
            </a:endParaRPr>
          </a:p>
          <a:p>
            <a:pPr algn="l"/>
            <a:r>
              <a:rPr sz="1100">
                <a:solidFill>
                  <a:srgbClr val="2C3E50"/>
                </a:solidFill>
              </a:rPr>
              <a:t>•  To Do / Doing / Done, assignee, iteration</a:t>
            </a:r>
          </a:p>
          <a:p>
            <a:endParaRPr sz="1100">
              <a:solidFill>
                <a:srgbClr val="2C3E50"/>
              </a:solidFill>
            </a:endParaRPr>
          </a:p>
          <a:p>
            <a:pPr algn="l"/>
            <a:r>
              <a:rPr sz="1100">
                <a:solidFill>
                  <a:srgbClr val="2C3E50"/>
                </a:solidFill>
              </a:rPr>
              <a:t>•  Read-only - never creates or edits items</a:t>
            </a:r>
          </a:p>
          <a:p>
            <a:endParaRPr sz="1100">
              <a:solidFill>
                <a:srgbClr val="2C3E50"/>
              </a:solidFill>
            </a:endParaRPr>
          </a:p>
          <a:p>
            <a:pPr algn="l"/>
            <a:r>
              <a:rPr sz="1100">
                <a:solidFill>
                  <a:srgbClr val="2C3E50"/>
                </a:solidFill>
              </a:rPr>
              <a:t>•  Silent if ADO isn't configured</a:t>
            </a:r>
          </a:p>
        </p:txBody>
      </p:sp>
      <p:sp>
        <p:nvSpPr>
          <p:cNvPr id="13" name="Rectangle 12"/>
          <p:cNvSpPr/>
          <p:nvPr/>
        </p:nvSpPr>
        <p:spPr>
          <a:xfrm>
            <a:off x="8046720" y="2240280"/>
            <a:ext cx="3502152" cy="27432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46720" y="2240280"/>
            <a:ext cx="3502152"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11312" y="2423160"/>
            <a:ext cx="31729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See it (Progress tab)</a:t>
            </a:r>
          </a:p>
        </p:txBody>
      </p:sp>
      <p:sp>
        <p:nvSpPr>
          <p:cNvPr id="16" name="Rectangle 15"/>
          <p:cNvSpPr/>
          <p:nvPr/>
        </p:nvSpPr>
        <p:spPr>
          <a:xfrm>
            <a:off x="8211312" y="2953512"/>
            <a:ext cx="3172968" cy="1874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Every opportunity grouped by current state</a:t>
            </a:r>
          </a:p>
          <a:p>
            <a:endParaRPr sz="1100">
              <a:solidFill>
                <a:srgbClr val="2C3E50"/>
              </a:solidFill>
            </a:endParaRPr>
          </a:p>
          <a:p>
            <a:pPr algn="l"/>
            <a:r>
              <a:rPr sz="1100">
                <a:solidFill>
                  <a:srgbClr val="2C3E50"/>
                </a:solidFill>
              </a:rPr>
              <a:t>•  Highlights items that moved in last 7 days</a:t>
            </a:r>
          </a:p>
          <a:p>
            <a:endParaRPr sz="1100">
              <a:solidFill>
                <a:srgbClr val="2C3E50"/>
              </a:solidFill>
            </a:endParaRPr>
          </a:p>
          <a:p>
            <a:pPr algn="l"/>
            <a:r>
              <a:rPr sz="1100">
                <a:solidFill>
                  <a:srgbClr val="2C3E50"/>
                </a:solidFill>
              </a:rPr>
              <a:t>•  Direct links to the ADO work items</a:t>
            </a:r>
          </a:p>
          <a:p>
            <a:endParaRPr sz="1100">
              <a:solidFill>
                <a:srgbClr val="2C3E50"/>
              </a:solidFill>
            </a:endParaRPr>
          </a:p>
          <a:p>
            <a:pPr algn="l"/>
            <a:r>
              <a:rPr sz="1100">
                <a:solidFill>
                  <a:srgbClr val="2C3E50"/>
                </a:solidFill>
              </a:rPr>
              <a:t>•  Answers 'where are we at with X?'</a:t>
            </a:r>
          </a:p>
        </p:txBody>
      </p:sp>
      <p:sp>
        <p:nvSpPr>
          <p:cNvPr id="17" name="Rectangle 16"/>
          <p:cNvSpPr/>
          <p:nvPr/>
        </p:nvSpPr>
        <p:spPr>
          <a:xfrm>
            <a:off x="640080" y="5212080"/>
            <a:ext cx="10908792" cy="6858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This is the difference between a meeting note and a managed pipeline of work.</a:t>
            </a:r>
          </a:p>
        </p:txBody>
      </p:sp>
      <p:sp>
        <p:nvSpPr>
          <p:cNvPr id="18" name="Rectangle 17"/>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468880"/>
            <a:ext cx="105430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0">
                <a:solidFill>
                  <a:srgbClr val="47A8BD"/>
                </a:solidFill>
              </a:rPr>
              <a:t>PART 3</a:t>
            </a:r>
          </a:p>
        </p:txBody>
      </p:sp>
      <p:sp>
        <p:nvSpPr>
          <p:cNvPr id="4" name="Rectangle 3"/>
          <p:cNvSpPr/>
          <p:nvPr/>
        </p:nvSpPr>
        <p:spPr>
          <a:xfrm>
            <a:off x="822960" y="2926080"/>
            <a:ext cx="1054303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600" b="1">
                <a:solidFill>
                  <a:srgbClr val="FFFFFF"/>
                </a:solidFill>
              </a:rPr>
              <a:t>See it in action</a:t>
            </a:r>
          </a:p>
        </p:txBody>
      </p:sp>
      <p:sp>
        <p:nvSpPr>
          <p:cNvPr id="5" name="Rectangle 4"/>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554480"/>
            <a:ext cx="105430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800" b="1">
                <a:solidFill>
                  <a:srgbClr val="5DB7A0"/>
                </a:solidFill>
              </a:rPr>
              <a:t>LIVE DEMO</a:t>
            </a:r>
          </a:p>
        </p:txBody>
      </p:sp>
      <p:sp>
        <p:nvSpPr>
          <p:cNvPr id="4" name="Rectangle 3"/>
          <p:cNvSpPr/>
          <p:nvPr/>
        </p:nvSpPr>
        <p:spPr>
          <a:xfrm>
            <a:off x="822960" y="2057400"/>
            <a:ext cx="10543032" cy="914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800" b="1">
                <a:solidFill>
                  <a:srgbClr val="FFFFFF"/>
                </a:solidFill>
              </a:rPr>
              <a:t>Let's run it.</a:t>
            </a:r>
          </a:p>
        </p:txBody>
      </p:sp>
      <p:sp>
        <p:nvSpPr>
          <p:cNvPr id="5" name="Rectangle 4"/>
          <p:cNvSpPr/>
          <p:nvPr/>
        </p:nvSpPr>
        <p:spPr>
          <a:xfrm>
            <a:off x="822960" y="3200400"/>
            <a:ext cx="10543032" cy="2743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600">
                <a:solidFill>
                  <a:srgbClr val="B9C4D1"/>
                </a:solidFill>
              </a:rPr>
              <a:t>1.  Drop a DOCX transcript into input/transcripts/</a:t>
            </a:r>
          </a:p>
          <a:p>
            <a:endParaRPr sz="1600">
              <a:solidFill>
                <a:srgbClr val="B9C4D1"/>
              </a:solidFill>
            </a:endParaRPr>
          </a:p>
          <a:p>
            <a:pPr algn="l"/>
            <a:r>
              <a:rPr sz="1600">
                <a:solidFill>
                  <a:srgbClr val="B9C4D1"/>
                </a:solidFill>
              </a:rPr>
              <a:t>2.  Run:  python src/main.py --input "..." --mode weekly</a:t>
            </a:r>
          </a:p>
          <a:p>
            <a:endParaRPr sz="1600">
              <a:solidFill>
                <a:srgbClr val="B9C4D1"/>
              </a:solidFill>
            </a:endParaRPr>
          </a:p>
          <a:p>
            <a:pPr algn="l"/>
            <a:r>
              <a:rPr sz="1600">
                <a:solidFill>
                  <a:srgbClr val="B9C4D1"/>
                </a:solidFill>
              </a:rPr>
              <a:t>3.  Open the weekly report - walk the 5 tabs</a:t>
            </a:r>
          </a:p>
          <a:p>
            <a:endParaRPr sz="1600">
              <a:solidFill>
                <a:srgbClr val="B9C4D1"/>
              </a:solidFill>
            </a:endParaRPr>
          </a:p>
          <a:p>
            <a:pPr algn="l"/>
            <a:r>
              <a:rPr sz="1600">
                <a:solidFill>
                  <a:srgbClr val="B9C4D1"/>
                </a:solidFill>
              </a:rPr>
              <a:t>4.  Review a few cards (everything is 'Needs Review')</a:t>
            </a:r>
          </a:p>
          <a:p>
            <a:endParaRPr sz="1600">
              <a:solidFill>
                <a:srgbClr val="B9C4D1"/>
              </a:solidFill>
            </a:endParaRPr>
          </a:p>
          <a:p>
            <a:pPr algn="l"/>
            <a:r>
              <a:rPr sz="1600">
                <a:solidFill>
                  <a:srgbClr val="B9C4D1"/>
                </a:solidFill>
              </a:rPr>
              <a:t>5.  Re-run with --push-ado  -&gt;  watch ADO Issues get created</a:t>
            </a:r>
          </a:p>
          <a:p>
            <a:endParaRPr sz="1600">
              <a:solidFill>
                <a:srgbClr val="B9C4D1"/>
              </a:solidFill>
            </a:endParaRPr>
          </a:p>
          <a:p>
            <a:pPr algn="l"/>
            <a:r>
              <a:rPr sz="1600">
                <a:solidFill>
                  <a:srgbClr val="B9C4D1"/>
                </a:solidFill>
              </a:rPr>
              <a:t>6.  Open the Progress tab - live status, linked to ADO</a:t>
            </a:r>
          </a:p>
        </p:txBody>
      </p:sp>
      <p:sp>
        <p:nvSpPr>
          <p:cNvPr id="6" name="Rectangle 5"/>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468880"/>
            <a:ext cx="105430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0">
                <a:solidFill>
                  <a:srgbClr val="47A8BD"/>
                </a:solidFill>
              </a:rPr>
              <a:t>PART 4</a:t>
            </a:r>
          </a:p>
        </p:txBody>
      </p:sp>
      <p:sp>
        <p:nvSpPr>
          <p:cNvPr id="4" name="Rectangle 3"/>
          <p:cNvSpPr/>
          <p:nvPr/>
        </p:nvSpPr>
        <p:spPr>
          <a:xfrm>
            <a:off x="822960" y="2926080"/>
            <a:ext cx="1054303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600" b="1">
                <a:solidFill>
                  <a:srgbClr val="FFFFFF"/>
                </a:solidFill>
              </a:rPr>
              <a:t>Benefits &amp; scale</a:t>
            </a:r>
          </a:p>
        </p:txBody>
      </p:sp>
      <p:sp>
        <p:nvSpPr>
          <p:cNvPr id="5" name="Rectangle 4"/>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The Benefits - Time &amp; ROI</a:t>
            </a:r>
          </a:p>
          <a:p>
            <a:pPr algn="l"/>
            <a:r>
              <a:rPr sz="1200" b="0">
                <a:solidFill>
                  <a:srgbClr val="B9C4D1"/>
                </a:solidFill>
              </a:rPr>
              <a:t>Measured against doing it all by hand</a:t>
            </a:r>
          </a:p>
        </p:txBody>
      </p:sp>
      <p:sp>
        <p:nvSpPr>
          <p:cNvPr id="4" name="Rectangle 3"/>
          <p:cNvSpPr/>
          <p:nvPr/>
        </p:nvSpPr>
        <p:spPr>
          <a:xfrm>
            <a:off x="640080" y="1463040"/>
            <a:ext cx="2697480" cy="14630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463040"/>
            <a:ext cx="2697480" cy="109728"/>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1691640"/>
            <a:ext cx="2697480"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1F3864"/>
                </a:solidFill>
              </a:rPr>
              <a:t>7.5 h</a:t>
            </a:r>
          </a:p>
        </p:txBody>
      </p:sp>
      <p:sp>
        <p:nvSpPr>
          <p:cNvPr id="7" name="Rectangle 6"/>
          <p:cNvSpPr/>
          <p:nvPr/>
        </p:nvSpPr>
        <p:spPr>
          <a:xfrm>
            <a:off x="640080" y="2377440"/>
            <a:ext cx="26974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2C3E50"/>
                </a:solidFill>
              </a:rPr>
              <a:t>Saved per week</a:t>
            </a:r>
          </a:p>
        </p:txBody>
      </p:sp>
      <p:sp>
        <p:nvSpPr>
          <p:cNvPr id="8" name="Rectangle 7"/>
          <p:cNvSpPr/>
          <p:nvPr/>
        </p:nvSpPr>
        <p:spPr>
          <a:xfrm>
            <a:off x="3502152" y="1463040"/>
            <a:ext cx="2697480" cy="14630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502152" y="1463040"/>
            <a:ext cx="2697480"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02152" y="1691640"/>
            <a:ext cx="2697480"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1F3864"/>
                </a:solidFill>
              </a:rPr>
              <a:t>83%</a:t>
            </a:r>
          </a:p>
        </p:txBody>
      </p:sp>
      <p:sp>
        <p:nvSpPr>
          <p:cNvPr id="11" name="Rectangle 10"/>
          <p:cNvSpPr/>
          <p:nvPr/>
        </p:nvSpPr>
        <p:spPr>
          <a:xfrm>
            <a:off x="3502152" y="2377440"/>
            <a:ext cx="26974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2C3E50"/>
                </a:solidFill>
              </a:rPr>
              <a:t>Less manual effort</a:t>
            </a:r>
          </a:p>
        </p:txBody>
      </p:sp>
      <p:sp>
        <p:nvSpPr>
          <p:cNvPr id="12" name="Rectangle 11"/>
          <p:cNvSpPr/>
          <p:nvPr/>
        </p:nvSpPr>
        <p:spPr>
          <a:xfrm>
            <a:off x="6364224" y="1463040"/>
            <a:ext cx="2697480" cy="14630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364224" y="1463040"/>
            <a:ext cx="2697480" cy="109728"/>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64224" y="1691640"/>
            <a:ext cx="2697480"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1F3864"/>
                </a:solidFill>
              </a:rPr>
              <a:t>390 h</a:t>
            </a:r>
          </a:p>
        </p:txBody>
      </p:sp>
      <p:sp>
        <p:nvSpPr>
          <p:cNvPr id="15" name="Rectangle 14"/>
          <p:cNvSpPr/>
          <p:nvPr/>
        </p:nvSpPr>
        <p:spPr>
          <a:xfrm>
            <a:off x="6364224" y="2377440"/>
            <a:ext cx="26974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2C3E50"/>
                </a:solidFill>
              </a:rPr>
              <a:t>Saved per year</a:t>
            </a:r>
          </a:p>
        </p:txBody>
      </p:sp>
      <p:sp>
        <p:nvSpPr>
          <p:cNvPr id="16" name="Rectangle 15"/>
          <p:cNvSpPr/>
          <p:nvPr/>
        </p:nvSpPr>
        <p:spPr>
          <a:xfrm>
            <a:off x="9226296" y="1463040"/>
            <a:ext cx="2697480" cy="146304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226296" y="1463040"/>
            <a:ext cx="2697480" cy="109728"/>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226296" y="1691640"/>
            <a:ext cx="2697480"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1F3864"/>
                </a:solidFill>
              </a:rPr>
              <a:t>~$33k</a:t>
            </a:r>
          </a:p>
        </p:txBody>
      </p:sp>
      <p:sp>
        <p:nvSpPr>
          <p:cNvPr id="19" name="Rectangle 18"/>
          <p:cNvSpPr/>
          <p:nvPr/>
        </p:nvSpPr>
        <p:spPr>
          <a:xfrm>
            <a:off x="9226296" y="2377440"/>
            <a:ext cx="269748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2C3E50"/>
                </a:solidFill>
              </a:rPr>
              <a:t>Annual time value*</a:t>
            </a:r>
          </a:p>
        </p:txBody>
      </p:sp>
      <p:sp>
        <p:nvSpPr>
          <p:cNvPr id="20" name="Rectangle 19"/>
          <p:cNvSpPr/>
          <p:nvPr/>
        </p:nvSpPr>
        <p:spPr>
          <a:xfrm>
            <a:off x="640080" y="3200400"/>
            <a:ext cx="5394960" cy="265176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3200400"/>
            <a:ext cx="5394960" cy="109728"/>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4672" y="3383280"/>
            <a:ext cx="5065776"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Transcript processing (~5.8 h/wk)</a:t>
            </a:r>
          </a:p>
        </p:txBody>
      </p:sp>
      <p:sp>
        <p:nvSpPr>
          <p:cNvPr id="23" name="Rectangle 22"/>
          <p:cNvSpPr/>
          <p:nvPr/>
        </p:nvSpPr>
        <p:spPr>
          <a:xfrm>
            <a:off x="804672" y="3913632"/>
            <a:ext cx="5065776" cy="1783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Read + parse transcript: 1.8 h -&gt; 0.1 h</a:t>
            </a:r>
          </a:p>
          <a:p>
            <a:endParaRPr sz="1100">
              <a:solidFill>
                <a:srgbClr val="2C3E50"/>
              </a:solidFill>
            </a:endParaRPr>
          </a:p>
          <a:p>
            <a:pPr algn="l"/>
            <a:r>
              <a:rPr sz="1100">
                <a:solidFill>
                  <a:srgbClr val="2C3E50"/>
                </a:solidFill>
              </a:rPr>
              <a:t>•  Identify opportunities: 1.5 h -&gt; 0.2 h</a:t>
            </a:r>
          </a:p>
          <a:p>
            <a:endParaRPr sz="1100">
              <a:solidFill>
                <a:srgbClr val="2C3E50"/>
              </a:solidFill>
            </a:endParaRPr>
          </a:p>
          <a:p>
            <a:pPr algn="l"/>
            <a:r>
              <a:rPr sz="1100">
                <a:solidFill>
                  <a:srgbClr val="2C3E50"/>
                </a:solidFill>
              </a:rPr>
              <a:t>•  Classify into 40-field schema: 2.0 h -&gt; 0.2 h</a:t>
            </a:r>
          </a:p>
          <a:p>
            <a:endParaRPr sz="1100">
              <a:solidFill>
                <a:srgbClr val="2C3E50"/>
              </a:solidFill>
            </a:endParaRPr>
          </a:p>
          <a:p>
            <a:pPr algn="l"/>
            <a:r>
              <a:rPr sz="1100">
                <a:solidFill>
                  <a:srgbClr val="2C3E50"/>
                </a:solidFill>
              </a:rPr>
              <a:t>•  Build workbook + payload + reports: 1.0 h -&gt; 0.1 h</a:t>
            </a:r>
          </a:p>
          <a:p>
            <a:endParaRPr sz="1100">
              <a:solidFill>
                <a:srgbClr val="2C3E50"/>
              </a:solidFill>
            </a:endParaRPr>
          </a:p>
          <a:p>
            <a:pPr algn="l"/>
            <a:r>
              <a:rPr sz="1100">
                <a:solidFill>
                  <a:srgbClr val="2C3E50"/>
                </a:solidFill>
              </a:rPr>
              <a:t>•  QA and review: largely retained (human judgement)</a:t>
            </a:r>
          </a:p>
        </p:txBody>
      </p:sp>
      <p:sp>
        <p:nvSpPr>
          <p:cNvPr id="24" name="Rectangle 23"/>
          <p:cNvSpPr/>
          <p:nvPr/>
        </p:nvSpPr>
        <p:spPr>
          <a:xfrm>
            <a:off x="6217920" y="3200400"/>
            <a:ext cx="5330952" cy="265176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0" y="3200400"/>
            <a:ext cx="5330952" cy="109728"/>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382512" y="3383280"/>
            <a:ext cx="5001768"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ADO lifecycle (~1.7 h/wk)</a:t>
            </a:r>
          </a:p>
        </p:txBody>
      </p:sp>
      <p:sp>
        <p:nvSpPr>
          <p:cNvPr id="27" name="Rectangle 26"/>
          <p:cNvSpPr/>
          <p:nvPr/>
        </p:nvSpPr>
        <p:spPr>
          <a:xfrm>
            <a:off x="6382512" y="3913632"/>
            <a:ext cx="5001768" cy="1783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100">
                <a:solidFill>
                  <a:srgbClr val="2C3E50"/>
                </a:solidFill>
              </a:rPr>
              <a:t>•  Work item creation: ~2.3 h/cycle -&gt; minutes</a:t>
            </a:r>
          </a:p>
          <a:p>
            <a:endParaRPr sz="1100">
              <a:solidFill>
                <a:srgbClr val="2C3E50"/>
              </a:solidFill>
            </a:endParaRPr>
          </a:p>
          <a:p>
            <a:pPr algn="l"/>
            <a:r>
              <a:rPr sz="1100">
                <a:solidFill>
                  <a:srgbClr val="2C3E50"/>
                </a:solidFill>
              </a:rPr>
              <a:t>•  Status tracking + follow-up: ~1 h/wk -&gt; ~5 min</a:t>
            </a:r>
          </a:p>
          <a:p>
            <a:endParaRPr sz="1100">
              <a:solidFill>
                <a:srgbClr val="2C3E50"/>
              </a:solidFill>
            </a:endParaRPr>
          </a:p>
          <a:p>
            <a:pPr algn="l"/>
            <a:r>
              <a:rPr sz="1100">
                <a:solidFill>
                  <a:srgbClr val="2C3E50"/>
                </a:solidFill>
              </a:rPr>
              <a:t>•  Traceability lookups: ~20 min/wk -&gt; 0</a:t>
            </a:r>
          </a:p>
          <a:p>
            <a:endParaRPr sz="1100">
              <a:solidFill>
                <a:srgbClr val="2C3E50"/>
              </a:solidFill>
            </a:endParaRPr>
          </a:p>
          <a:p>
            <a:pPr algn="l"/>
            <a:r>
              <a:rPr sz="1100">
                <a:solidFill>
                  <a:srgbClr val="2C3E50"/>
                </a:solidFill>
              </a:rPr>
              <a:t>•  Dedup-safe re-runs eliminate rework risk</a:t>
            </a:r>
          </a:p>
          <a:p>
            <a:endParaRPr sz="1100">
              <a:solidFill>
                <a:srgbClr val="2C3E50"/>
              </a:solidFill>
            </a:endParaRPr>
          </a:p>
          <a:p>
            <a:pPr algn="l"/>
            <a:r>
              <a:rPr sz="1100">
                <a:solidFill>
                  <a:srgbClr val="2C3E50"/>
                </a:solidFill>
              </a:rPr>
              <a:t>•  No AI credits - pure REST API</a:t>
            </a:r>
          </a:p>
        </p:txBody>
      </p:sp>
      <p:sp>
        <p:nvSpPr>
          <p:cNvPr id="28" name="Rectangle 27"/>
          <p:cNvSpPr/>
          <p:nvPr/>
        </p:nvSpPr>
        <p:spPr>
          <a:xfrm>
            <a:off x="640080" y="5989320"/>
            <a:ext cx="10908792"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6B7A8D"/>
                </a:solidFill>
              </a:rPr>
              <a:t>* Optional labor-value lens at $85/hr loaded rate. Recurring runtime: ~30 Copilot credits per transcript.</a:t>
            </a:r>
          </a:p>
        </p:txBody>
      </p:sp>
      <p:sp>
        <p:nvSpPr>
          <p:cNvPr id="29" name="Rectangle 28"/>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How It Scales</a:t>
            </a:r>
          </a:p>
          <a:p>
            <a:pPr algn="l"/>
            <a:r>
              <a:rPr sz="1200" b="0">
                <a:solidFill>
                  <a:srgbClr val="B9C4D1"/>
                </a:solidFill>
              </a:rPr>
              <a:t>Same engine, different domains</a:t>
            </a:r>
          </a:p>
        </p:txBody>
      </p:sp>
      <p:sp>
        <p:nvSpPr>
          <p:cNvPr id="4" name="Rectangle 3"/>
          <p:cNvSpPr/>
          <p:nvPr/>
        </p:nvSpPr>
        <p:spPr>
          <a:xfrm>
            <a:off x="640080" y="1371600"/>
            <a:ext cx="10908792"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0">
                <a:solidFill>
                  <a:srgbClr val="2C3E50"/>
                </a:solidFill>
              </a:rPr>
              <a:t>The engine is domain-agnostic. The framework lives in config (JSON) and the extraction logic in skills (Markdown). Swap those, point it at different source documents, and it works for a new team.</a:t>
            </a:r>
          </a:p>
        </p:txBody>
      </p:sp>
      <p:sp>
        <p:nvSpPr>
          <p:cNvPr id="5" name="Rectangle 4"/>
          <p:cNvSpPr/>
          <p:nvPr/>
        </p:nvSpPr>
        <p:spPr>
          <a:xfrm>
            <a:off x="640080" y="2194560"/>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194560"/>
            <a:ext cx="3611880" cy="914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41248" y="2359152"/>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Sales / CX</a:t>
            </a:r>
          </a:p>
        </p:txBody>
      </p:sp>
      <p:sp>
        <p:nvSpPr>
          <p:cNvPr id="8" name="Rectangle 7"/>
          <p:cNvSpPr/>
          <p:nvPr/>
        </p:nvSpPr>
        <p:spPr>
          <a:xfrm>
            <a:off x="841248" y="2724912"/>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47A8BD"/>
                </a:solidFill>
              </a:rPr>
              <a:t>Call transcripts</a:t>
            </a:r>
          </a:p>
        </p:txBody>
      </p:sp>
      <p:sp>
        <p:nvSpPr>
          <p:cNvPr id="9" name="Rectangle 8"/>
          <p:cNvSpPr/>
          <p:nvPr/>
        </p:nvSpPr>
        <p:spPr>
          <a:xfrm>
            <a:off x="841248" y="3017520"/>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customer pain points, feature requests, churn signals</a:t>
            </a:r>
          </a:p>
        </p:txBody>
      </p:sp>
      <p:sp>
        <p:nvSpPr>
          <p:cNvPr id="10" name="Rectangle 9"/>
          <p:cNvSpPr/>
          <p:nvPr/>
        </p:nvSpPr>
        <p:spPr>
          <a:xfrm>
            <a:off x="4434840" y="2194560"/>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434840" y="2194560"/>
            <a:ext cx="3611880" cy="91440"/>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636008" y="2359152"/>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HR / People</a:t>
            </a:r>
          </a:p>
        </p:txBody>
      </p:sp>
      <p:sp>
        <p:nvSpPr>
          <p:cNvPr id="13" name="Rectangle 12"/>
          <p:cNvSpPr/>
          <p:nvPr/>
        </p:nvSpPr>
        <p:spPr>
          <a:xfrm>
            <a:off x="4636008" y="2724912"/>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E8A838"/>
                </a:solidFill>
              </a:rPr>
              <a:t>Interview &amp; survey notes</a:t>
            </a:r>
          </a:p>
        </p:txBody>
      </p:sp>
      <p:sp>
        <p:nvSpPr>
          <p:cNvPr id="14" name="Rectangle 13"/>
          <p:cNvSpPr/>
          <p:nvPr/>
        </p:nvSpPr>
        <p:spPr>
          <a:xfrm>
            <a:off x="4636008" y="3017520"/>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themes, sentiment, policy gaps, training needs</a:t>
            </a:r>
          </a:p>
        </p:txBody>
      </p:sp>
      <p:sp>
        <p:nvSpPr>
          <p:cNvPr id="15" name="Rectangle 14"/>
          <p:cNvSpPr/>
          <p:nvPr/>
        </p:nvSpPr>
        <p:spPr>
          <a:xfrm>
            <a:off x="8229600" y="2194560"/>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29600" y="2194560"/>
            <a:ext cx="3611880" cy="91440"/>
          </a:xfrm>
          <a:prstGeom prst="rect">
            <a:avLst/>
          </a:prstGeom>
          <a:solidFill>
            <a:srgbClr val="C06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430768" y="2359152"/>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Engineering</a:t>
            </a:r>
          </a:p>
        </p:txBody>
      </p:sp>
      <p:sp>
        <p:nvSpPr>
          <p:cNvPr id="18" name="Rectangle 17"/>
          <p:cNvSpPr/>
          <p:nvPr/>
        </p:nvSpPr>
        <p:spPr>
          <a:xfrm>
            <a:off x="8430768" y="2724912"/>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C0604D"/>
                </a:solidFill>
              </a:rPr>
              <a:t>Incident retros</a:t>
            </a:r>
          </a:p>
        </p:txBody>
      </p:sp>
      <p:sp>
        <p:nvSpPr>
          <p:cNvPr id="19" name="Rectangle 18"/>
          <p:cNvSpPr/>
          <p:nvPr/>
        </p:nvSpPr>
        <p:spPr>
          <a:xfrm>
            <a:off x="8430768" y="3017520"/>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action items, root causes, recurring failure modes</a:t>
            </a:r>
          </a:p>
        </p:txBody>
      </p:sp>
      <p:sp>
        <p:nvSpPr>
          <p:cNvPr id="20" name="Rectangle 19"/>
          <p:cNvSpPr/>
          <p:nvPr/>
        </p:nvSpPr>
        <p:spPr>
          <a:xfrm>
            <a:off x="640080" y="3767328"/>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3767328"/>
            <a:ext cx="3611880" cy="91440"/>
          </a:xfrm>
          <a:prstGeom prst="rect">
            <a:avLst/>
          </a:prstGeom>
          <a:solidFill>
            <a:srgbClr val="3A4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41248" y="3931920"/>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Product</a:t>
            </a:r>
          </a:p>
        </p:txBody>
      </p:sp>
      <p:sp>
        <p:nvSpPr>
          <p:cNvPr id="23" name="Rectangle 22"/>
          <p:cNvSpPr/>
          <p:nvPr/>
        </p:nvSpPr>
        <p:spPr>
          <a:xfrm>
            <a:off x="841248" y="4297680"/>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3A4B5C"/>
                </a:solidFill>
              </a:rPr>
              <a:t>User research sessions</a:t>
            </a:r>
          </a:p>
        </p:txBody>
      </p:sp>
      <p:sp>
        <p:nvSpPr>
          <p:cNvPr id="24" name="Rectangle 23"/>
          <p:cNvSpPr/>
          <p:nvPr/>
        </p:nvSpPr>
        <p:spPr>
          <a:xfrm>
            <a:off x="841248" y="4590288"/>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jobs-to-be-done, usability issues, prioritized asks</a:t>
            </a:r>
          </a:p>
        </p:txBody>
      </p:sp>
      <p:sp>
        <p:nvSpPr>
          <p:cNvPr id="25" name="Rectangle 24"/>
          <p:cNvSpPr/>
          <p:nvPr/>
        </p:nvSpPr>
        <p:spPr>
          <a:xfrm>
            <a:off x="4434840" y="3767328"/>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434840" y="3767328"/>
            <a:ext cx="3611880" cy="91440"/>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636008" y="3931920"/>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Legal / Risk</a:t>
            </a:r>
          </a:p>
        </p:txBody>
      </p:sp>
      <p:sp>
        <p:nvSpPr>
          <p:cNvPr id="28" name="Rectangle 27"/>
          <p:cNvSpPr/>
          <p:nvPr/>
        </p:nvSpPr>
        <p:spPr>
          <a:xfrm>
            <a:off x="4636008" y="4297680"/>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5DB7A0"/>
                </a:solidFill>
              </a:rPr>
              <a:t>Contract reviews</a:t>
            </a:r>
          </a:p>
        </p:txBody>
      </p:sp>
      <p:sp>
        <p:nvSpPr>
          <p:cNvPr id="29" name="Rectangle 28"/>
          <p:cNvSpPr/>
          <p:nvPr/>
        </p:nvSpPr>
        <p:spPr>
          <a:xfrm>
            <a:off x="4636008" y="4590288"/>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obligations, risks, non-standard clauses</a:t>
            </a:r>
          </a:p>
        </p:txBody>
      </p:sp>
      <p:sp>
        <p:nvSpPr>
          <p:cNvPr id="30" name="Rectangle 29"/>
          <p:cNvSpPr/>
          <p:nvPr/>
        </p:nvSpPr>
        <p:spPr>
          <a:xfrm>
            <a:off x="8229600" y="3767328"/>
            <a:ext cx="3611880" cy="1371600"/>
          </a:xfrm>
          <a:prstGeom prst="rect">
            <a:avLst/>
          </a:prstGeom>
          <a:solidFill>
            <a:srgbClr val="FFFFFF"/>
          </a:solidFill>
          <a:ln>
            <a:solidFill>
              <a:srgbClr val="DD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229600" y="3767328"/>
            <a:ext cx="3611880" cy="914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430768" y="3931920"/>
            <a:ext cx="3246120" cy="3657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400" b="1">
                <a:solidFill>
                  <a:srgbClr val="1F3864"/>
                </a:solidFill>
              </a:rPr>
              <a:t>Operations</a:t>
            </a:r>
          </a:p>
        </p:txBody>
      </p:sp>
      <p:sp>
        <p:nvSpPr>
          <p:cNvPr id="33" name="Rectangle 32"/>
          <p:cNvSpPr/>
          <p:nvPr/>
        </p:nvSpPr>
        <p:spPr>
          <a:xfrm>
            <a:off x="8430768" y="4297680"/>
            <a:ext cx="32461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47A8BD"/>
                </a:solidFill>
              </a:rPr>
              <a:t>Standups &amp; reviews</a:t>
            </a:r>
          </a:p>
        </p:txBody>
      </p:sp>
      <p:sp>
        <p:nvSpPr>
          <p:cNvPr id="34" name="Rectangle 33"/>
          <p:cNvSpPr/>
          <p:nvPr/>
        </p:nvSpPr>
        <p:spPr>
          <a:xfrm>
            <a:off x="8430768" y="4590288"/>
            <a:ext cx="3246120"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0">
                <a:solidFill>
                  <a:srgbClr val="2C3E50"/>
                </a:solidFill>
              </a:rPr>
              <a:t>Extract blockers, dependencies, process improvements</a:t>
            </a:r>
          </a:p>
        </p:txBody>
      </p:sp>
      <p:sp>
        <p:nvSpPr>
          <p:cNvPr id="35" name="Rectangle 34"/>
          <p:cNvSpPr/>
          <p:nvPr/>
        </p:nvSpPr>
        <p:spPr>
          <a:xfrm>
            <a:off x="640080" y="5897880"/>
            <a:ext cx="10908792" cy="4572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What stays the same: ingestion, chunking, draft-only guardrails, human review, trend reporting, and the ADO loop.</a:t>
            </a:r>
          </a:p>
        </p:txBody>
      </p:sp>
      <p:sp>
        <p:nvSpPr>
          <p:cNvPr id="36" name="Rectangle 35"/>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11480" y="0"/>
            <a:ext cx="11365992" cy="12801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400" b="1">
                <a:solidFill>
                  <a:srgbClr val="FFFFFF"/>
                </a:solidFill>
              </a:rPr>
              <a:t>Adopting It For Your Team</a:t>
            </a:r>
          </a:p>
          <a:p>
            <a:pPr algn="l"/>
            <a:r>
              <a:rPr sz="1200" b="0">
                <a:solidFill>
                  <a:srgbClr val="B9C4D1"/>
                </a:solidFill>
              </a:rPr>
              <a:t>What it takes to stand up a new instance</a:t>
            </a:r>
          </a:p>
        </p:txBody>
      </p:sp>
      <p:sp>
        <p:nvSpPr>
          <p:cNvPr id="4" name="Rectangle 3"/>
          <p:cNvSpPr/>
          <p:nvPr/>
        </p:nvSpPr>
        <p:spPr>
          <a:xfrm>
            <a:off x="731520" y="1645920"/>
            <a:ext cx="548640" cy="5486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rPr>
              <a:t>1</a:t>
            </a:r>
          </a:p>
        </p:txBody>
      </p:sp>
      <p:sp>
        <p:nvSpPr>
          <p:cNvPr id="5" name="Rectangle 4"/>
          <p:cNvSpPr/>
          <p:nvPr/>
        </p:nvSpPr>
        <p:spPr>
          <a:xfrm>
            <a:off x="1463040" y="1645920"/>
            <a:ext cx="3108960"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1F3864"/>
                </a:solidFill>
              </a:rPr>
              <a:t>Define the framework</a:t>
            </a:r>
          </a:p>
        </p:txBody>
      </p:sp>
      <p:sp>
        <p:nvSpPr>
          <p:cNvPr id="6" name="Rectangle 5"/>
          <p:cNvSpPr/>
          <p:nvPr/>
        </p:nvSpPr>
        <p:spPr>
          <a:xfrm>
            <a:off x="4663440" y="1645920"/>
            <a:ext cx="68854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0">
                <a:solidFill>
                  <a:srgbClr val="2C3E50"/>
                </a:solidFill>
              </a:rPr>
              <a:t>List the dimensions and choice values for your domain in config JSON.</a:t>
            </a:r>
          </a:p>
        </p:txBody>
      </p:sp>
      <p:sp>
        <p:nvSpPr>
          <p:cNvPr id="7" name="Rectangle 6"/>
          <p:cNvSpPr/>
          <p:nvPr/>
        </p:nvSpPr>
        <p:spPr>
          <a:xfrm>
            <a:off x="731520" y="2487168"/>
            <a:ext cx="548640" cy="5486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rPr>
              <a:t>2</a:t>
            </a:r>
          </a:p>
        </p:txBody>
      </p:sp>
      <p:sp>
        <p:nvSpPr>
          <p:cNvPr id="8" name="Rectangle 7"/>
          <p:cNvSpPr/>
          <p:nvPr/>
        </p:nvSpPr>
        <p:spPr>
          <a:xfrm>
            <a:off x="1463040" y="2487168"/>
            <a:ext cx="3108960"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1F3864"/>
                </a:solidFill>
              </a:rPr>
              <a:t>Write the extraction prompt</a:t>
            </a:r>
          </a:p>
        </p:txBody>
      </p:sp>
      <p:sp>
        <p:nvSpPr>
          <p:cNvPr id="9" name="Rectangle 8"/>
          <p:cNvSpPr/>
          <p:nvPr/>
        </p:nvSpPr>
        <p:spPr>
          <a:xfrm>
            <a:off x="4663440" y="2487168"/>
            <a:ext cx="68854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0">
                <a:solidFill>
                  <a:srgbClr val="2C3E50"/>
                </a:solidFill>
              </a:rPr>
              <a:t>One skill file describing what an 'opportunity' looks like for you.</a:t>
            </a:r>
          </a:p>
        </p:txBody>
      </p:sp>
      <p:sp>
        <p:nvSpPr>
          <p:cNvPr id="10" name="Rectangle 9"/>
          <p:cNvSpPr/>
          <p:nvPr/>
        </p:nvSpPr>
        <p:spPr>
          <a:xfrm>
            <a:off x="731520" y="3328416"/>
            <a:ext cx="548640" cy="5486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rPr>
              <a:t>3</a:t>
            </a:r>
          </a:p>
        </p:txBody>
      </p:sp>
      <p:sp>
        <p:nvSpPr>
          <p:cNvPr id="11" name="Rectangle 10"/>
          <p:cNvSpPr/>
          <p:nvPr/>
        </p:nvSpPr>
        <p:spPr>
          <a:xfrm>
            <a:off x="1463040" y="3328416"/>
            <a:ext cx="3108960"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1F3864"/>
                </a:solidFill>
              </a:rPr>
              <a:t>Point at your sources</a:t>
            </a:r>
          </a:p>
        </p:txBody>
      </p:sp>
      <p:sp>
        <p:nvSpPr>
          <p:cNvPr id="12" name="Rectangle 11"/>
          <p:cNvSpPr/>
          <p:nvPr/>
        </p:nvSpPr>
        <p:spPr>
          <a:xfrm>
            <a:off x="4663440" y="3328416"/>
            <a:ext cx="68854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0">
                <a:solidFill>
                  <a:srgbClr val="2C3E50"/>
                </a:solidFill>
              </a:rPr>
              <a:t>Drop your transcripts / notes / docs into the input folder.</a:t>
            </a:r>
          </a:p>
        </p:txBody>
      </p:sp>
      <p:sp>
        <p:nvSpPr>
          <p:cNvPr id="13" name="Rectangle 12"/>
          <p:cNvSpPr/>
          <p:nvPr/>
        </p:nvSpPr>
        <p:spPr>
          <a:xfrm>
            <a:off x="731520" y="4169664"/>
            <a:ext cx="548640" cy="5486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rPr>
              <a:t>4</a:t>
            </a:r>
          </a:p>
        </p:txBody>
      </p:sp>
      <p:sp>
        <p:nvSpPr>
          <p:cNvPr id="14" name="Rectangle 13"/>
          <p:cNvSpPr/>
          <p:nvPr/>
        </p:nvSpPr>
        <p:spPr>
          <a:xfrm>
            <a:off x="1463040" y="4169664"/>
            <a:ext cx="3108960"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1F3864"/>
                </a:solidFill>
              </a:rPr>
              <a:t>Run &amp; review</a:t>
            </a:r>
          </a:p>
        </p:txBody>
      </p:sp>
      <p:sp>
        <p:nvSpPr>
          <p:cNvPr id="15" name="Rectangle 14"/>
          <p:cNvSpPr/>
          <p:nvPr/>
        </p:nvSpPr>
        <p:spPr>
          <a:xfrm>
            <a:off x="4663440" y="4169664"/>
            <a:ext cx="68854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0">
                <a:solidFill>
                  <a:srgbClr val="2C3E50"/>
                </a:solidFill>
              </a:rPr>
              <a:t>The same pipeline produces drafts; a human reviews them.</a:t>
            </a:r>
          </a:p>
        </p:txBody>
      </p:sp>
      <p:sp>
        <p:nvSpPr>
          <p:cNvPr id="16" name="Rectangle 15"/>
          <p:cNvSpPr/>
          <p:nvPr/>
        </p:nvSpPr>
        <p:spPr>
          <a:xfrm>
            <a:off x="731520" y="5010912"/>
            <a:ext cx="548640" cy="54864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rPr>
              <a:t>5</a:t>
            </a:r>
          </a:p>
        </p:txBody>
      </p:sp>
      <p:sp>
        <p:nvSpPr>
          <p:cNvPr id="17" name="Rectangle 16"/>
          <p:cNvSpPr/>
          <p:nvPr/>
        </p:nvSpPr>
        <p:spPr>
          <a:xfrm>
            <a:off x="1463040" y="5010912"/>
            <a:ext cx="3108960"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1F3864"/>
                </a:solidFill>
              </a:rPr>
              <a:t>Wire your tracker</a:t>
            </a:r>
          </a:p>
        </p:txBody>
      </p:sp>
      <p:sp>
        <p:nvSpPr>
          <p:cNvPr id="18" name="Rectangle 17"/>
          <p:cNvSpPr/>
          <p:nvPr/>
        </p:nvSpPr>
        <p:spPr>
          <a:xfrm>
            <a:off x="4663440" y="5010912"/>
            <a:ext cx="6885432"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0">
                <a:solidFill>
                  <a:srgbClr val="2C3E50"/>
                </a:solidFill>
              </a:rPr>
              <a:t>Map outputs to ADO, Jira, SharePoint - whatever closes your loop.</a:t>
            </a:r>
          </a:p>
        </p:txBody>
      </p:sp>
      <p:sp>
        <p:nvSpPr>
          <p:cNvPr id="19" name="Rectangle 18"/>
          <p:cNvSpPr/>
          <p:nvPr/>
        </p:nvSpPr>
        <p:spPr>
          <a:xfrm>
            <a:off x="640080" y="5897880"/>
            <a:ext cx="10908792" cy="457200"/>
          </a:xfrm>
          <a:prstGeom prst="rect">
            <a:avLst/>
          </a:prstGeom>
          <a:solidFill>
            <a:srgbClr val="5DB7A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No new infrastructure. Runs locally on an existing Copilot subscription. Governed by human review end to end.</a:t>
            </a:r>
          </a:p>
        </p:txBody>
      </p:sp>
      <p:sp>
        <p:nvSpPr>
          <p:cNvPr id="20" name="Rectangle 19"/>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47A8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463040"/>
            <a:ext cx="10543032"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3400" b="1">
                <a:solidFill>
                  <a:srgbClr val="FFFFFF"/>
                </a:solidFill>
              </a:rPr>
              <a:t>Recap &amp; Next Steps</a:t>
            </a:r>
          </a:p>
        </p:txBody>
      </p:sp>
      <p:sp>
        <p:nvSpPr>
          <p:cNvPr id="4" name="Rectangle 3"/>
          <p:cNvSpPr/>
          <p:nvPr/>
        </p:nvSpPr>
        <p:spPr>
          <a:xfrm>
            <a:off x="822960" y="2651760"/>
            <a:ext cx="10543032" cy="2468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t"/>
          <a:lstStyle/>
          <a:p>
            <a:pPr algn="l"/>
            <a:r>
              <a:rPr sz="1600">
                <a:solidFill>
                  <a:srgbClr val="B9C4D1"/>
                </a:solidFill>
              </a:rPr>
              <a:t>-  Turns weekly meeting talk into structured, classified, reviewable opportunities</a:t>
            </a:r>
          </a:p>
          <a:p>
            <a:endParaRPr sz="1600">
              <a:solidFill>
                <a:srgbClr val="B9C4D1"/>
              </a:solidFill>
            </a:endParaRPr>
          </a:p>
          <a:p>
            <a:pPr algn="l"/>
            <a:r>
              <a:rPr sz="1600">
                <a:solidFill>
                  <a:srgbClr val="B9C4D1"/>
                </a:solidFill>
              </a:rPr>
              <a:t>-  Saves ~7.5 hours/week (~390 hours/year) versus doing it by hand</a:t>
            </a:r>
          </a:p>
          <a:p>
            <a:endParaRPr sz="1600">
              <a:solidFill>
                <a:srgbClr val="B9C4D1"/>
              </a:solidFill>
            </a:endParaRPr>
          </a:p>
          <a:p>
            <a:pPr algn="l"/>
            <a:r>
              <a:rPr sz="1600">
                <a:solidFill>
                  <a:srgbClr val="B9C4D1"/>
                </a:solidFill>
              </a:rPr>
              <a:t>-  Closes the loop with Azure DevOps - discussion becomes tracked execution</a:t>
            </a:r>
          </a:p>
          <a:p>
            <a:endParaRPr sz="1600">
              <a:solidFill>
                <a:srgbClr val="B9C4D1"/>
              </a:solidFill>
            </a:endParaRPr>
          </a:p>
          <a:p>
            <a:pPr algn="l"/>
            <a:r>
              <a:rPr sz="1600">
                <a:solidFill>
                  <a:srgbClr val="B9C4D1"/>
                </a:solidFill>
              </a:rPr>
              <a:t>-  Human-in-the-loop and draft-only at every step - safe by design</a:t>
            </a:r>
          </a:p>
          <a:p>
            <a:endParaRPr sz="1600">
              <a:solidFill>
                <a:srgbClr val="B9C4D1"/>
              </a:solidFill>
            </a:endParaRPr>
          </a:p>
          <a:p>
            <a:pPr algn="l"/>
            <a:r>
              <a:rPr sz="1600">
                <a:solidFill>
                  <a:srgbClr val="B9C4D1"/>
                </a:solidFill>
              </a:rPr>
              <a:t>-  Domain-agnostic - swap the config to serve any team or extraction type</a:t>
            </a:r>
          </a:p>
        </p:txBody>
      </p:sp>
      <p:sp>
        <p:nvSpPr>
          <p:cNvPr id="5" name="Rectangle 4"/>
          <p:cNvSpPr/>
          <p:nvPr/>
        </p:nvSpPr>
        <p:spPr>
          <a:xfrm>
            <a:off x="822960" y="5486400"/>
            <a:ext cx="10543032" cy="7315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600" b="1">
                <a:solidFill>
                  <a:srgbClr val="E8A838"/>
                </a:solidFill>
              </a:rPr>
              <a:t>Want it for your team? Let's talk.   -   David High (DK High)</a:t>
            </a:r>
          </a:p>
        </p:txBody>
      </p:sp>
      <p:sp>
        <p:nvSpPr>
          <p:cNvPr id="6" name="Rectangle 5"/>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E8A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560320"/>
            <a:ext cx="10543032" cy="1463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4400" b="1">
                <a:solidFill>
                  <a:srgbClr val="FFFFFF"/>
                </a:solidFill>
              </a:rPr>
              <a:t>Thank you</a:t>
            </a:r>
          </a:p>
          <a:p>
            <a:pPr algn="l"/>
            <a:r>
              <a:rPr sz="2000" b="0">
                <a:solidFill>
                  <a:srgbClr val="47A8BD"/>
                </a:solidFill>
              </a:rPr>
              <a:t>Questions &amp; discussion</a:t>
            </a:r>
          </a:p>
        </p:txBody>
      </p:sp>
      <p:sp>
        <p:nvSpPr>
          <p:cNvPr id="4" name="Rectangle 3"/>
          <p:cNvSpPr/>
          <p:nvPr/>
        </p:nvSpPr>
        <p:spPr>
          <a:xfrm>
            <a:off x="457200" y="6446520"/>
            <a:ext cx="11274552"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0">
                <a:solidFill>
                  <a:srgbClr val="6B7A8D"/>
                </a:solidFill>
              </a:rPr>
              <a:t>Electronics AI Working Group  |  AI Transcript Intake Agent  |  Proprietary &amp; Confidential  |  NYSE: AYI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caadbe96-024e-4f67-82ec-fb28ff53d16d}" enabled="0" method="" siteId="{caadbe96-024e-4f67-82ec-fb28ff53d16d}" removed="1"/>
</clbl:labelList>
</file>

<file path=docProps/app.xml><?xml version="1.0" encoding="utf-8"?>
<Properties xmlns="http://schemas.openxmlformats.org/officeDocument/2006/extended-properties" xmlns:vt="http://schemas.openxmlformats.org/officeDocument/2006/docPropsVTypes">
  <TotalTime>1094</TotalTime>
  <Words>4484</Words>
  <Application>Microsoft Office PowerPoint</Application>
  <PresentationFormat>Custom</PresentationFormat>
  <Paragraphs>450</Paragraphs>
  <Slides>19</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High, David K</cp:lastModifiedBy>
  <cp:revision>1</cp:revision>
  <dcterms:created xsi:type="dcterms:W3CDTF">2013-01-27T09:14:16Z</dcterms:created>
  <dcterms:modified xsi:type="dcterms:W3CDTF">2026-06-24T14:20:09Z</dcterms:modified>
  <cp:category/>
</cp:coreProperties>
</file>