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87784" cy="960120"/>
          </a:xfrm>
          <a:prstGeom prst="rect">
            <a:avLst/>
          </a:prstGeom>
          <a:solidFill>
            <a:srgbClr val="3A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"/>
            <a:ext cx="11274552" cy="777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B9C4D1"/>
                </a:solidFill>
              </a:rPr>
              <a:t>Eureka®, nLight®, Atrius®, Distech Controls:  Acuity Inc. — Corporate Headquarters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4552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47A8BD"/>
                </a:solidFill>
              </a:rPr>
              <a:t>Electronics AI Working Group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1274552" cy="17373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4000" b="1">
                <a:solidFill>
                  <a:srgbClr val="FFFFFF"/>
                </a:solidFill>
              </a:rPr>
              <a:t>AI Transcript Intake Agent</a:t>
            </a:r>
          </a:p>
          <a:p>
            <a:pPr algn="l"/>
            <a:r>
              <a:rPr sz="2000" b="0">
                <a:solidFill>
                  <a:srgbClr val="E8A838"/>
                </a:solidFill>
              </a:rPr>
              <a:t>From meeting conversation to tracked execution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931920"/>
            <a:ext cx="11274552" cy="10972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>
                <a:solidFill>
                  <a:srgbClr val="B9C4D1"/>
                </a:solidFill>
              </a:rPr>
              <a:t>Why we built it  -  How it works  -  The benefits  -  How it scales</a:t>
            </a:r>
          </a:p>
          <a:p>
            <a:r>
              <a:rPr sz="600">
                <a:solidFill>
                  <a:srgbClr val="B9C4D1"/>
                </a:solidFill>
              </a:rPr>
              <a:t/>
            </a:r>
          </a:p>
          <a:p>
            <a:pPr algn="l"/>
            <a:r>
              <a:rPr sz="1400">
                <a:solidFill>
                  <a:srgbClr val="B9C4D1"/>
                </a:solidFill>
              </a:rPr>
              <a:t>Live demo + overview  -  20-30 minutes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989320"/>
            <a:ext cx="11274552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6B7A8D"/>
                </a:solidFill>
              </a:rPr>
              <a:t>Presented by David High (DK High)  -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1365992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</a:rPr>
              <a:t>Agenda</a:t>
            </a:r>
          </a:p>
          <a:p>
            <a:pPr algn="l"/>
            <a:r>
              <a:rPr sz="1200" b="0">
                <a:solidFill>
                  <a:srgbClr val="B9C4D1"/>
                </a:solidFill>
              </a:rPr>
              <a:t>What we'll cover in the next 20-30 minutes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502920" cy="45720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1325880" y="1554480"/>
            <a:ext cx="10268712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2C3E50"/>
                </a:solidFill>
              </a:rPr>
              <a:t>The Problem   -   Why this was created - the manual pain it removes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1554480"/>
            <a:ext cx="292608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F3864"/>
                </a:solidFill>
              </a:rPr>
              <a:t>The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21408"/>
            <a:ext cx="502920" cy="45720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1325880" y="2121408"/>
            <a:ext cx="10268712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2C3E50"/>
                </a:solidFill>
              </a:rPr>
              <a:t>The Solution   -   What the agent does, end to 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2121408"/>
            <a:ext cx="292608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F3864"/>
                </a:solidFill>
              </a:rPr>
              <a:t>The Solution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88336"/>
            <a:ext cx="502920" cy="45720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5880" y="2688336"/>
            <a:ext cx="10268712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2C3E50"/>
                </a:solidFill>
              </a:rPr>
              <a:t>How It Works   -   The pipeline, the AI, and the guardrails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5880" y="2688336"/>
            <a:ext cx="292608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F3864"/>
                </a:solidFill>
              </a:rPr>
              <a:t>How It Works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55264"/>
            <a:ext cx="502920" cy="45720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5880" y="3255264"/>
            <a:ext cx="10268712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2C3E50"/>
                </a:solidFill>
              </a:rPr>
              <a:t>The Outputs   -   Weekly + monthly reports, ADO work items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25880" y="3255264"/>
            <a:ext cx="292608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F3864"/>
                </a:solidFill>
              </a:rPr>
              <a:t>The Outputs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822192"/>
            <a:ext cx="502920" cy="45720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25880" y="3822192"/>
            <a:ext cx="10268712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2C3E50"/>
                </a:solidFill>
              </a:rPr>
              <a:t>Closing the Loop   -   From discussion to tracked execution in Azure DevOps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25880" y="3822192"/>
            <a:ext cx="292608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F3864"/>
                </a:solidFill>
              </a:rPr>
              <a:t>Closing the Loop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389120"/>
            <a:ext cx="502920" cy="45720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5880" y="4389120"/>
            <a:ext cx="10268712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2C3E50"/>
                </a:solidFill>
              </a:rPr>
              <a:t>Live Demo   -   Drop a transcript, run it, see the report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25880" y="4389120"/>
            <a:ext cx="292608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F3864"/>
                </a:solidFill>
              </a:rPr>
              <a:t>Live Demo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956048"/>
            <a:ext cx="502920" cy="45720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25880" y="4956048"/>
            <a:ext cx="10268712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2C3E50"/>
                </a:solidFill>
              </a:rPr>
              <a:t>The Benefits   -   Time savings and ROI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5880" y="4956048"/>
            <a:ext cx="292608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F3864"/>
                </a:solidFill>
              </a:rPr>
              <a:t>The Benefits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522976"/>
            <a:ext cx="502920" cy="45720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25880" y="5522976"/>
            <a:ext cx="10268712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2C3E50"/>
                </a:solidFill>
              </a:rPr>
              <a:t>How It Scales   -   Other teams, other extraction types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25880" y="5522976"/>
            <a:ext cx="292608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F3864"/>
                </a:solidFill>
              </a:rPr>
              <a:t>How It Scales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B7A8D"/>
                </a:solidFill>
              </a:rPr>
              <a:t>Electronics AI Working Group  |  AI Transcript Intake Agent  |  Proprietary &amp; Confidential  |  NYSE: AYI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0543032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47A8BD"/>
                </a:solidFill>
              </a:rPr>
              <a:t>PART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926080"/>
            <a:ext cx="10543032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FFFFFF"/>
                </a:solidFill>
              </a:rPr>
              <a:t>Why we built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B7A8D"/>
                </a:solidFill>
              </a:rPr>
              <a:t>Electronics AI Working Group  |  AI Transcript Intake Agent  |  Proprietary &amp; Confidential  |  NYSE: AYI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1365992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</a:rPr>
              <a:t>The Problem</a:t>
            </a:r>
          </a:p>
          <a:p>
            <a:pPr algn="l"/>
            <a:r>
              <a:rPr sz="1200" b="0">
                <a:solidFill>
                  <a:srgbClr val="B9C4D1"/>
                </a:solidFill>
              </a:rPr>
              <a:t>Why we built this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908792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C3E50"/>
                </a:solidFill>
              </a:rPr>
              <a:t>Every week the working group meets and talks about ways the business could use AI. Those ideas were getting lost.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468880"/>
            <a:ext cx="361188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611880" cy="109728"/>
          </a:xfrm>
          <a:prstGeom prst="rect">
            <a:avLst/>
          </a:prstGeom>
          <a:solidFill>
            <a:srgbClr val="C06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" y="2651760"/>
            <a:ext cx="3282696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F3864"/>
                </a:solidFill>
              </a:rPr>
              <a:t>Manual &amp; slow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3182112"/>
            <a:ext cx="3282696" cy="23317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100">
                <a:solidFill>
                  <a:srgbClr val="2C3E50"/>
                </a:solidFill>
              </a:rPr>
              <a:t>•  Someone had to read hours of transcript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Pull out the real opportunities by hand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Fill ~40 fields per idea in a spreadsheet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~7 hours of effort, every single week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2468880"/>
            <a:ext cx="361188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2468880"/>
            <a:ext cx="3611880" cy="109728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99432" y="2651760"/>
            <a:ext cx="3282696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F3864"/>
                </a:solidFill>
              </a:rPr>
              <a:t>Inconsistent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99432" y="3182112"/>
            <a:ext cx="3282696" cy="23317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100">
                <a:solidFill>
                  <a:srgbClr val="2C3E50"/>
                </a:solidFill>
              </a:rPr>
              <a:t>•  Different people captured different things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No shared classification language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Hard to compare week over week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Quality depended on who did 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468880"/>
            <a:ext cx="361188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2468880"/>
            <a:ext cx="3611880" cy="109728"/>
          </a:xfrm>
          <a:prstGeom prst="rect">
            <a:avLst/>
          </a:prstGeom>
          <a:solidFill>
            <a:srgbClr val="3A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94192" y="2651760"/>
            <a:ext cx="3282696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F3864"/>
                </a:solidFill>
              </a:rPr>
              <a:t>No follow-through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94192" y="3182112"/>
            <a:ext cx="3282696" cy="23317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100">
                <a:solidFill>
                  <a:srgbClr val="2C3E50"/>
                </a:solidFill>
              </a:rPr>
              <a:t>•  Ideas were captured, then forgotten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No link to who would actually do them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'Did anything happen with X?' - nobody knew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The loop was never closed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897880"/>
            <a:ext cx="10908792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The core insight: a transcript is the BEGINNING of the work, not the end of 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B7A8D"/>
                </a:solidFill>
              </a:rPr>
              <a:t>Electronics AI Working Group  |  AI Transcript Intake Agent  |  Proprietary &amp; Confidential  |  NYSE: AYI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1365992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</a:rPr>
              <a:t>The Solution</a:t>
            </a:r>
          </a:p>
          <a:p>
            <a:pPr algn="l"/>
            <a:r>
              <a:rPr sz="1200" b="0">
                <a:solidFill>
                  <a:srgbClr val="B9C4D1"/>
                </a:solidFill>
              </a:rPr>
              <a:t>A local agent that turns talk into tracked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908792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2C3E50"/>
                </a:solidFill>
              </a:rPr>
              <a:t>Drop in a meeting transcript. Get back reviewable AI-opportunity records, trend reports, and tracked work items - with a human in the loop at every step.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2057400" cy="1005840"/>
          </a:xfrm>
          <a:prstGeom prst="rect">
            <a:avLst/>
          </a:prstGeom>
          <a:solidFill>
            <a:srgbClr val="3A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514600"/>
            <a:ext cx="2057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Read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26080"/>
            <a:ext cx="20574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DOCX transcript in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2761488"/>
            <a:ext cx="164592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6B7A8D"/>
                </a:solidFill>
              </a:rPr>
              <a:t>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2862072" y="2377440"/>
            <a:ext cx="2057400" cy="100584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2862072" y="2514600"/>
            <a:ext cx="2057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Extract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62072" y="2926080"/>
            <a:ext cx="20574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AI finds opportunities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19472" y="2761488"/>
            <a:ext cx="164592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6B7A8D"/>
                </a:solidFill>
              </a:rP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4064" y="2377440"/>
            <a:ext cx="2057400" cy="100584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5084064" y="2514600"/>
            <a:ext cx="2057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Classify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4064" y="2926080"/>
            <a:ext cx="20574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Map to framework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41464" y="2761488"/>
            <a:ext cx="164592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6B7A8D"/>
                </a:solidFill>
              </a:rP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06056" y="2377440"/>
            <a:ext cx="2057400" cy="100584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7306056" y="2514600"/>
            <a:ext cx="2057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06056" y="2926080"/>
            <a:ext cx="20574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Weekly + monthly HTML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63456" y="2761488"/>
            <a:ext cx="164592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6B7A8D"/>
                </a:solidFill>
              </a:rPr>
              <a:t>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28048" y="2377440"/>
            <a:ext cx="2057400" cy="1005840"/>
          </a:xfrm>
          <a:prstGeom prst="rect">
            <a:avLst/>
          </a:prstGeom>
          <a:solidFill>
            <a:srgbClr val="5D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9528048" y="2514600"/>
            <a:ext cx="2057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Track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28048" y="2926080"/>
            <a:ext cx="20574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Push to Azure DevOps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840480"/>
            <a:ext cx="539496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840480"/>
            <a:ext cx="5394960" cy="109728"/>
          </a:xfrm>
          <a:prstGeom prst="rect">
            <a:avLst/>
          </a:prstGeom>
          <a:solidFill>
            <a:srgbClr val="5D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" y="4023360"/>
            <a:ext cx="5065776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F3864"/>
                </a:solidFill>
              </a:rPr>
              <a:t>What makes it trustworthy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" y="4553712"/>
            <a:ext cx="5065776" cy="1234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100">
                <a:solidFill>
                  <a:srgbClr val="2C3E50"/>
                </a:solidFill>
              </a:rPr>
              <a:t>•  Full transcripts are NEVER sent to the model - only filtered chunks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Every AI output is DRAFT-only, defaults to 'Needs Review'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Human review required before any SharePoint or ADO push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Evidence preserved: speaker, timestamp, quote on every row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840480"/>
            <a:ext cx="5330952" cy="210312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840480"/>
            <a:ext cx="5330952" cy="109728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82512" y="4023360"/>
            <a:ext cx="5001768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F3864"/>
                </a:solidFill>
              </a:rPr>
              <a:t>What makes it efficient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82512" y="4553712"/>
            <a:ext cx="5001768" cy="1234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100">
                <a:solidFill>
                  <a:srgbClr val="2C3E50"/>
                </a:solidFill>
              </a:rPr>
              <a:t>•  Deterministic Python does all the heavy lifting (free)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AI used only for the two semantic steps: extract + classify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Runs on your existing GitHub Copilot subscription - no new key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Idempotent: safe to re-run, never double-counts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B7A8D"/>
                </a:solidFill>
              </a:rPr>
              <a:t>Electronics AI Working Group  |  AI Transcript Intake Agent  |  Proprietary &amp; Confidential  |  NYSE: AYI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0543032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47A8BD"/>
                </a:solidFill>
              </a:rPr>
              <a:t>PART 2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926080"/>
            <a:ext cx="10543032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B7A8D"/>
                </a:solidFill>
              </a:rPr>
              <a:t>Electronics AI Working Group  |  AI Transcript Intake Agent  |  Proprietary &amp; Confidential  |  NYSE: AYI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1365992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</a:rPr>
              <a:t>How It Works - The Pipeline</a:t>
            </a:r>
          </a:p>
          <a:p>
            <a:pPr algn="l"/>
            <a:r>
              <a:rPr sz="1200" b="0">
                <a:solidFill>
                  <a:srgbClr val="B9C4D1"/>
                </a:solidFill>
              </a:rPr>
              <a:t>Mostly deterministic Python; AI only where it adds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0908792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FFFFFF"/>
                </a:solidFill>
              </a:rPr>
              <a:t>Step        Stage                         What happens                                                     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10908792" cy="566928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20240"/>
            <a:ext cx="82296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1F3864"/>
                </a:solidFill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920240"/>
            <a:ext cx="274320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2C3E50"/>
                </a:solidFill>
              </a:rPr>
              <a:t>ADO status sync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920240"/>
            <a:ext cx="548640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Pull live work-item status into reports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332720" y="2011680"/>
            <a:ext cx="1005840" cy="384048"/>
          </a:xfrm>
          <a:prstGeom prst="rect">
            <a:avLst/>
          </a:prstGeom>
          <a:solidFill>
            <a:srgbClr val="3A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87168"/>
            <a:ext cx="10908792" cy="566928"/>
          </a:xfrm>
          <a:prstGeom prst="rect">
            <a:avLst/>
          </a:prstGeom>
          <a:solidFill>
            <a:srgbClr val="F7F9FC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487168"/>
            <a:ext cx="82296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1F3864"/>
                </a:solidFill>
              </a:rPr>
              <a:t>1-3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0" y="2487168"/>
            <a:ext cx="274320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2C3E50"/>
                </a:solidFill>
              </a:rPr>
              <a:t>Read - Clean - Chunk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2487168"/>
            <a:ext cx="548640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Parse DOCX, keep speaker turns, keyword-filter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32720" y="2578608"/>
            <a:ext cx="1005840" cy="384048"/>
          </a:xfrm>
          <a:prstGeom prst="rect">
            <a:avLst/>
          </a:prstGeom>
          <a:solidFill>
            <a:srgbClr val="3A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054096"/>
            <a:ext cx="10908792" cy="566928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054096"/>
            <a:ext cx="82296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1F3864"/>
                </a:solidFill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0" y="3054096"/>
            <a:ext cx="274320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2C3E50"/>
                </a:solidFill>
              </a:rPr>
              <a:t>Extract candidates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3054096"/>
            <a:ext cx="548640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Find AI opportunities in filtered chunks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32720" y="3145536"/>
            <a:ext cx="1005840" cy="384048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21024"/>
            <a:ext cx="10908792" cy="566928"/>
          </a:xfrm>
          <a:prstGeom prst="rect">
            <a:avLst/>
          </a:prstGeom>
          <a:solidFill>
            <a:srgbClr val="F7F9FC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621024"/>
            <a:ext cx="82296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1F3864"/>
                </a:solidFill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3621024"/>
            <a:ext cx="274320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2C3E50"/>
                </a:solidFill>
              </a:rPr>
              <a:t>Classify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3621024"/>
            <a:ext cx="548640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Map each to the 40-field framework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32720" y="3712464"/>
            <a:ext cx="1005840" cy="384048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187952"/>
            <a:ext cx="10908792" cy="566928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187952"/>
            <a:ext cx="82296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1F3864"/>
                </a:solidFill>
              </a:rPr>
              <a:t>5b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0" y="4187952"/>
            <a:ext cx="274320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2C3E50"/>
                </a:solidFill>
              </a:rPr>
              <a:t>Validate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4187952"/>
            <a:ext cx="548640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Check choices, confidence-filter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32720" y="4279392"/>
            <a:ext cx="1005840" cy="384048"/>
          </a:xfrm>
          <a:prstGeom prst="rect">
            <a:avLst/>
          </a:prstGeom>
          <a:solidFill>
            <a:srgbClr val="3A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754880"/>
            <a:ext cx="10908792" cy="566928"/>
          </a:xfrm>
          <a:prstGeom prst="rect">
            <a:avLst/>
          </a:prstGeom>
          <a:solidFill>
            <a:srgbClr val="F7F9FC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754880"/>
            <a:ext cx="82296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1F3864"/>
                </a:solidFill>
              </a:rPr>
              <a:t>6-8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20" y="4754880"/>
            <a:ext cx="274320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2C3E50"/>
                </a:solidFill>
              </a:rPr>
              <a:t>Export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0" y="4754880"/>
            <a:ext cx="548640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review_rows.xlsx, payload, HTML report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332720" y="4846320"/>
            <a:ext cx="1005840" cy="384048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321808"/>
            <a:ext cx="10908792" cy="566928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" y="5321808"/>
            <a:ext cx="82296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1F3864"/>
                </a:solidFill>
              </a:rPr>
              <a:t>9-11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45920" y="5321808"/>
            <a:ext cx="274320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2C3E50"/>
                </a:solidFill>
              </a:rPr>
              <a:t>Archive + Report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80560" y="5321808"/>
            <a:ext cx="548640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History store, weekly + monthly reports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332720" y="5413248"/>
            <a:ext cx="1005840" cy="384048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5888736"/>
            <a:ext cx="10908792" cy="566928"/>
          </a:xfrm>
          <a:prstGeom prst="rect">
            <a:avLst/>
          </a:prstGeom>
          <a:solidFill>
            <a:srgbClr val="F7F9FC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888736"/>
            <a:ext cx="82296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1F3864"/>
                </a:solidFill>
              </a:rPr>
              <a:t>9c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45920" y="5888736"/>
            <a:ext cx="274320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2C3E50"/>
                </a:solidFill>
              </a:rPr>
              <a:t>ADO push (opt-in)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80560" y="5888736"/>
            <a:ext cx="548640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Create tracked Issues after review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332720" y="5980176"/>
            <a:ext cx="1005840" cy="384048"/>
          </a:xfrm>
          <a:prstGeom prst="rect">
            <a:avLst/>
          </a:prstGeom>
          <a:solidFill>
            <a:srgbClr val="5D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B7A8D"/>
                </a:solidFill>
              </a:rPr>
              <a:t>Electronics AI Working Group  |  AI Transcript Intake Agent  |  Proprietary &amp; Confidential  |  NYSE: AYI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1365992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</a:rPr>
              <a:t>How It Works - AI vs. Deterministic</a:t>
            </a:r>
          </a:p>
          <a:p>
            <a:pPr algn="l"/>
            <a:r>
              <a:rPr sz="1200" b="0">
                <a:solidFill>
                  <a:srgbClr val="B9C4D1"/>
                </a:solidFill>
              </a:rPr>
              <a:t>Two AI steps. Everything else is plain code.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53949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394960" cy="109728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" y="1737360"/>
            <a:ext cx="5065776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F3864"/>
                </a:solidFill>
              </a:rPr>
              <a:t>AI does the SEMANTIC work (2 steps)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2267712"/>
            <a:ext cx="5065776" cy="3337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200">
                <a:solidFill>
                  <a:srgbClr val="2C3E50"/>
                </a:solidFill>
              </a:rPr>
              <a:t>•  Extraction: reads filtered chunks and asks 'is this a real AI opportunity?'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200">
                <a:solidFill>
                  <a:srgbClr val="2C3E50"/>
                </a:solidFill>
              </a:rPr>
              <a:t>•  Classification: fills ~40 framework fields per opportunity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200">
                <a:solidFill>
                  <a:srgbClr val="2C3E50"/>
                </a:solidFill>
              </a:rPr>
              <a:t>•  One model call per chunk / per candidate - small, cheap prompts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200">
                <a:solidFill>
                  <a:srgbClr val="2C3E50"/>
                </a:solidFill>
              </a:rPr>
              <a:t>•  Runs on GitHub Copilot SDK by default (or OpenAI if a key is set)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200">
                <a:solidFill>
                  <a:srgbClr val="2C3E50"/>
                </a:solidFill>
              </a:rPr>
              <a:t>•  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200">
                <a:solidFill>
                  <a:srgbClr val="2C3E50"/>
                </a:solidFill>
              </a:rPr>
              <a:t>•  Why AI here? Judgement, nuance, and language understanding that rules can't capture.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554480"/>
            <a:ext cx="5330952" cy="420624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330952" cy="109728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82512" y="1737360"/>
            <a:ext cx="5001768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F3864"/>
                </a:solidFill>
              </a:rPr>
              <a:t>Python does EVERYTHING else (deterministic)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2267712"/>
            <a:ext cx="5001768" cy="3337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200">
                <a:solidFill>
                  <a:srgbClr val="2C3E50"/>
                </a:solidFill>
              </a:rPr>
              <a:t>•  DOCX reading, cleaning, speaker-turn splitting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200">
                <a:solidFill>
                  <a:srgbClr val="2C3E50"/>
                </a:solidFill>
              </a:rPr>
              <a:t>•  Keyword filtering and chunking (token control)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200">
                <a:solidFill>
                  <a:srgbClr val="2C3E50"/>
                </a:solidFill>
              </a:rPr>
              <a:t>•  JSON validation against allowed choice values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200">
                <a:solidFill>
                  <a:srgbClr val="2C3E50"/>
                </a:solidFill>
              </a:rPr>
              <a:t>•  Excel export, payload building, HTML report generation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200">
                <a:solidFill>
                  <a:srgbClr val="2C3E50"/>
                </a:solidFill>
              </a:rPr>
              <a:t>•  History store, trend analysis, dedup matching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200">
                <a:solidFill>
                  <a:srgbClr val="2C3E50"/>
                </a:solidFill>
              </a:rPr>
              <a:t>•  ADO REST API calls (push + status sync)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200">
                <a:solidFill>
                  <a:srgbClr val="2C3E50"/>
                </a:solidFill>
              </a:rPr>
              <a:t>•  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200">
                <a:solidFill>
                  <a:srgbClr val="2C3E50"/>
                </a:solidFill>
              </a:rPr>
              <a:t>•  Why Python here? Reproducible, free, fast, and testable.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B7A8D"/>
                </a:solidFill>
              </a:rPr>
              <a:t>Electronics AI Working Group  |  AI Transcript Intake Agent  |  Proprietary &amp; Confidential  |  NYSE: AYI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1365992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</a:rPr>
              <a:t>The Classification Framework</a:t>
            </a:r>
          </a:p>
          <a:p>
            <a:pPr algn="l"/>
            <a:r>
              <a:rPr sz="1200" b="0">
                <a:solidFill>
                  <a:srgbClr val="B9C4D1"/>
                </a:solidFill>
              </a:rPr>
              <a:t>A shared language for every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C3E50"/>
                </a:solidFill>
              </a:rPr>
              <a:t>Each opportunity is mapped onto consistent dimensions so they can be compared, prioritized, and tracked over 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94560"/>
            <a:ext cx="361188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109728" cy="141732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359152"/>
            <a:ext cx="324612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F3864"/>
                </a:solidFill>
              </a:rPr>
              <a:t>AI Use Case 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834640"/>
            <a:ext cx="324612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Classification - Action - Both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2194560"/>
            <a:ext cx="361188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2194560"/>
            <a:ext cx="109728" cy="1417320"/>
          </a:xfrm>
          <a:prstGeom prst="rect">
            <a:avLst/>
          </a:prstGeom>
          <a:solidFill>
            <a:srgbClr val="3A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2359152"/>
            <a:ext cx="324612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F3864"/>
                </a:solidFill>
              </a:rPr>
              <a:t>Operating Bucket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2834640"/>
            <a:ext cx="324612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Pre-Sale, Manufacturing, Post-Shipment, Governance...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194560"/>
            <a:ext cx="361188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2194560"/>
            <a:ext cx="109728" cy="14173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03920" y="2359152"/>
            <a:ext cx="324612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F3864"/>
                </a:solidFill>
              </a:rPr>
              <a:t>Level of Analysis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2834640"/>
            <a:ext cx="324612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0 Signal -&gt; 7 Release Candidate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840480"/>
            <a:ext cx="361188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40480"/>
            <a:ext cx="109728" cy="1417320"/>
          </a:xfrm>
          <a:prstGeom prst="rect">
            <a:avLst/>
          </a:prstGeom>
          <a:solidFill>
            <a:srgbClr val="5D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4005072"/>
            <a:ext cx="324612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F3864"/>
                </a:solidFill>
              </a:rPr>
              <a:t>Maturity Signal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480560"/>
            <a:ext cx="324612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Aspirational -&gt; Exploring -&gt; Piloting -&gt; Deployed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3840480"/>
            <a:ext cx="361188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3840480"/>
            <a:ext cx="109728" cy="141732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09160" y="4005072"/>
            <a:ext cx="324612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F3864"/>
                </a:solidFill>
              </a:rPr>
              <a:t>Signal Strength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60" y="4480560"/>
            <a:ext cx="324612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Isolated -&gt; Cross-Functional -&gt; Leadership Priority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840480"/>
            <a:ext cx="361188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840480"/>
            <a:ext cx="109728" cy="1417320"/>
          </a:xfrm>
          <a:prstGeom prst="rect">
            <a:avLst/>
          </a:prstGeom>
          <a:solidFill>
            <a:srgbClr val="3A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03920" y="4005072"/>
            <a:ext cx="324612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F3864"/>
                </a:solidFill>
              </a:rPr>
              <a:t>Value / Effort / Risk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3920" y="4480560"/>
            <a:ext cx="324612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2C3E50"/>
                </a:solidFill>
              </a:rPr>
              <a:t>1-5 scores for prioritization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852160"/>
            <a:ext cx="10908792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The framework is just config (JSON). Swap it, and the same engine classifies a completely different domain.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B7A8D"/>
                </a:solidFill>
              </a:rPr>
              <a:t>Electronics AI Working Group  |  AI Transcript Intake Agent  |  Proprietary &amp; Confidential  |  NYSE: AYI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1365992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</a:rPr>
              <a:t>The Outputs</a:t>
            </a:r>
          </a:p>
          <a:p>
            <a:pPr algn="l"/>
            <a:r>
              <a:rPr sz="1200" b="0">
                <a:solidFill>
                  <a:srgbClr val="B9C4D1"/>
                </a:solidFill>
              </a:rPr>
              <a:t>Self-contained, shareable, no server 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5394960" cy="224028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5394960" cy="109728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" y="1645920"/>
            <a:ext cx="5065776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F3864"/>
                </a:solidFill>
              </a:rPr>
              <a:t>Weekly report (5 tabs)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2176272"/>
            <a:ext cx="5065776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100">
                <a:solidFill>
                  <a:srgbClr val="2C3E50"/>
                </a:solidFill>
              </a:rPr>
              <a:t>•  Cards - one per opportunity, with ADO status chip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Analytics - charts by bucket, type, level, maturity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Full Table - all 40 fields, sortable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Trends - new vs. carried-over, week-over-week movement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Progress - live ADO status, grouped by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330952" cy="224028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330952" cy="109728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82512" y="1645920"/>
            <a:ext cx="5001768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F3864"/>
                </a:solidFill>
              </a:rPr>
              <a:t>Monthly rollup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82512" y="2176272"/>
            <a:ext cx="5001768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100">
                <a:solidFill>
                  <a:srgbClr val="2C3E50"/>
                </a:solidFill>
              </a:rPr>
              <a:t>•  Unique opportunity count, weeks covered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New vs. carried-from-prior month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Per-week bucket distribution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Signal / level momentum (escalations)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Full table with first-seen / last-seen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86200"/>
            <a:ext cx="539496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886200"/>
            <a:ext cx="5394960" cy="109728"/>
          </a:xfrm>
          <a:prstGeom prst="rect">
            <a:avLst/>
          </a:prstGeom>
          <a:solidFill>
            <a:srgbClr val="5D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" y="4069080"/>
            <a:ext cx="5065776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F3864"/>
                </a:solidFill>
              </a:rPr>
              <a:t>For review &amp; hand-off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599432"/>
            <a:ext cx="5065776" cy="1051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100">
                <a:solidFill>
                  <a:srgbClr val="2C3E50"/>
                </a:solidFill>
              </a:rPr>
              <a:t>•  review_rows.xlsx - human review workbook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sharepoint_payload.json - draft SharePoint rows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master_opportunities.xlsx - Power BI source (incl. ADO columns)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886200"/>
            <a:ext cx="5330952" cy="192024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886200"/>
            <a:ext cx="5330952" cy="109728"/>
          </a:xfrm>
          <a:prstGeom prst="rect">
            <a:avLst/>
          </a:prstGeom>
          <a:solidFill>
            <a:srgbClr val="3A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82512" y="4069080"/>
            <a:ext cx="5001768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F3864"/>
                </a:solidFill>
              </a:rPr>
              <a:t>For the meeting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82512" y="4599432"/>
            <a:ext cx="5001768" cy="1051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100">
                <a:solidFill>
                  <a:srgbClr val="2C3E50"/>
                </a:solidFill>
              </a:rPr>
              <a:t>•  Auto-generated PPTX deck for the upcoming session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Demo backlog, KB candidates, next steps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Built from accumulated history, not by hand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B7A8D"/>
                </a:solidFill>
              </a:rPr>
              <a:t>Electronics AI Working Group  |  AI Transcript Intake Agent  |  Proprietary &amp; Confidential  |  NYSE: AYI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1365992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</a:rPr>
              <a:t>Closing the Loop - Azure DevOps</a:t>
            </a:r>
          </a:p>
          <a:p>
            <a:pPr algn="l"/>
            <a:r>
              <a:rPr sz="1200" b="0">
                <a:solidFill>
                  <a:srgbClr val="B9C4D1"/>
                </a:solidFill>
              </a:rPr>
              <a:t>From 'we discussed it' to 'someone owns it'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08792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2C3E50"/>
                </a:solidFill>
              </a:rPr>
              <a:t>The newest capability. Identified opportunities only deliver value if someone picks them up. ADO integration was added to close that gap.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40280"/>
            <a:ext cx="356616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40280"/>
            <a:ext cx="3566160" cy="109728"/>
          </a:xfrm>
          <a:prstGeom prst="rect">
            <a:avLst/>
          </a:prstGeom>
          <a:solidFill>
            <a:srgbClr val="5D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" y="2423160"/>
            <a:ext cx="3236976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F3864"/>
                </a:solidFill>
              </a:rPr>
              <a:t>Push (opt-in)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2953512"/>
            <a:ext cx="3236976" cy="1874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100">
                <a:solidFill>
                  <a:srgbClr val="2C3E50"/>
                </a:solidFill>
              </a:rPr>
              <a:t>•  After review, run with --push-ado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Each approved opportunity becomes a tracked ADO Issue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Rich description: problem, evidence, next step, metadata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Title-based dedup - safe to re-run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2240280"/>
            <a:ext cx="356616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240280"/>
            <a:ext cx="3566160" cy="109728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07992" y="2423160"/>
            <a:ext cx="3236976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F3864"/>
                </a:solidFill>
              </a:rPr>
              <a:t>Sync (automatic)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07992" y="2953512"/>
            <a:ext cx="3236976" cy="1874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100">
                <a:solidFill>
                  <a:srgbClr val="2C3E50"/>
                </a:solidFill>
              </a:rPr>
              <a:t>•  Every weekly run pulls live ADO status first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To Do / Doing / Done, assignee, iteration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Read-only - never creates or edits items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Silent if ADO isn't configured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240280"/>
            <a:ext cx="350215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240280"/>
            <a:ext cx="3502152" cy="109728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11312" y="2423160"/>
            <a:ext cx="3172968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F3864"/>
                </a:solidFill>
              </a:rPr>
              <a:t>See it (Progress tab)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11312" y="2953512"/>
            <a:ext cx="3172968" cy="1874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100">
                <a:solidFill>
                  <a:srgbClr val="2C3E50"/>
                </a:solidFill>
              </a:rPr>
              <a:t>•  Every opportunity grouped by current state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Highlights items that moved in last 7 days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Direct links to the ADO work items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Answers 'where are we at with X?'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212080"/>
            <a:ext cx="10908792" cy="685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This is the difference between a meeting note and a managed pipeline of work.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B7A8D"/>
                </a:solidFill>
              </a:rPr>
              <a:t>Electronics AI Working Group  |  AI Transcript Intake Agent  |  Proprietary &amp; Confidential  |  NYSE: AYI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0543032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47A8BD"/>
                </a:solidFill>
              </a:rPr>
              <a:t>PART 3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926080"/>
            <a:ext cx="10543032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FFFFFF"/>
                </a:solidFill>
              </a:rPr>
              <a:t>See it in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B7A8D"/>
                </a:solidFill>
              </a:rPr>
              <a:t>Electronics AI Working Group  |  AI Transcript Intake Agent  |  Proprietary &amp; Confidential  |  NYSE: AYI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D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554480"/>
            <a:ext cx="10543032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5DB7A0"/>
                </a:solidFill>
              </a:rP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57400"/>
            <a:ext cx="10543032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800" b="1">
                <a:solidFill>
                  <a:srgbClr val="FFFFFF"/>
                </a:solidFill>
              </a:rPr>
              <a:t>Let's run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200400"/>
            <a:ext cx="10543032" cy="2743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600">
                <a:solidFill>
                  <a:srgbClr val="B9C4D1"/>
                </a:solidFill>
              </a:rPr>
              <a:t>1.  Drop a DOCX transcript into input/transcripts/</a:t>
            </a:r>
          </a:p>
          <a:p>
            <a:r>
              <a:rPr sz="800">
                <a:solidFill>
                  <a:srgbClr val="B9C4D1"/>
                </a:solidFill>
              </a:rPr>
              <a:t/>
            </a:r>
          </a:p>
          <a:p>
            <a:pPr algn="l"/>
            <a:r>
              <a:rPr sz="1600">
                <a:solidFill>
                  <a:srgbClr val="B9C4D1"/>
                </a:solidFill>
              </a:rPr>
              <a:t>2.  Run:  python src/main.py --input "..." --mode weekly</a:t>
            </a:r>
          </a:p>
          <a:p>
            <a:r>
              <a:rPr sz="800">
                <a:solidFill>
                  <a:srgbClr val="B9C4D1"/>
                </a:solidFill>
              </a:rPr>
              <a:t/>
            </a:r>
          </a:p>
          <a:p>
            <a:pPr algn="l"/>
            <a:r>
              <a:rPr sz="1600">
                <a:solidFill>
                  <a:srgbClr val="B9C4D1"/>
                </a:solidFill>
              </a:rPr>
              <a:t>3.  Open the weekly report - walk the 5 tabs</a:t>
            </a:r>
          </a:p>
          <a:p>
            <a:r>
              <a:rPr sz="800">
                <a:solidFill>
                  <a:srgbClr val="B9C4D1"/>
                </a:solidFill>
              </a:rPr>
              <a:t/>
            </a:r>
          </a:p>
          <a:p>
            <a:pPr algn="l"/>
            <a:r>
              <a:rPr sz="1600">
                <a:solidFill>
                  <a:srgbClr val="B9C4D1"/>
                </a:solidFill>
              </a:rPr>
              <a:t>4.  Review a few cards (everything is 'Needs Review')</a:t>
            </a:r>
          </a:p>
          <a:p>
            <a:r>
              <a:rPr sz="800">
                <a:solidFill>
                  <a:srgbClr val="B9C4D1"/>
                </a:solidFill>
              </a:rPr>
              <a:t/>
            </a:r>
          </a:p>
          <a:p>
            <a:pPr algn="l"/>
            <a:r>
              <a:rPr sz="1600">
                <a:solidFill>
                  <a:srgbClr val="B9C4D1"/>
                </a:solidFill>
              </a:rPr>
              <a:t>5.  Re-run with --push-ado  -&gt;  watch ADO Issues get created</a:t>
            </a:r>
          </a:p>
          <a:p>
            <a:r>
              <a:rPr sz="800">
                <a:solidFill>
                  <a:srgbClr val="B9C4D1"/>
                </a:solidFill>
              </a:rPr>
              <a:t/>
            </a:r>
          </a:p>
          <a:p>
            <a:pPr algn="l"/>
            <a:r>
              <a:rPr sz="1600">
                <a:solidFill>
                  <a:srgbClr val="B9C4D1"/>
                </a:solidFill>
              </a:rPr>
              <a:t>6.  Open the Progress tab - live status, linked to 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B7A8D"/>
                </a:solidFill>
              </a:rPr>
              <a:t>Electronics AI Working Group  |  AI Transcript Intake Agent  |  Proprietary &amp; Confidential  |  NYSE: AYI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0543032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47A8BD"/>
                </a:solidFill>
              </a:rPr>
              <a:t>PART 4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926080"/>
            <a:ext cx="10543032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FFFFFF"/>
                </a:solidFill>
              </a:rPr>
              <a:t>Benefits &amp;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B7A8D"/>
                </a:solidFill>
              </a:rPr>
              <a:t>Electronics AI Working Group  |  AI Transcript Intake Agent  |  Proprietary &amp; Confidential  |  NYSE: AYI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1365992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</a:rPr>
              <a:t>The Benefits - Time &amp; ROI</a:t>
            </a:r>
          </a:p>
          <a:p>
            <a:pPr algn="l"/>
            <a:r>
              <a:rPr sz="1200" b="0">
                <a:solidFill>
                  <a:srgbClr val="B9C4D1"/>
                </a:solidFill>
              </a:rPr>
              <a:t>Measured against doing it all by hand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269748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2697480" cy="109728"/>
          </a:xfrm>
          <a:prstGeom prst="rect">
            <a:avLst/>
          </a:prstGeom>
          <a:solidFill>
            <a:srgbClr val="5D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26974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1F3864"/>
                </a:solidFill>
              </a:rPr>
              <a:t>7.5 h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77440"/>
            <a:ext cx="269748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C3E50"/>
                </a:solidFill>
              </a:rPr>
              <a:t>Saved per week</a:t>
            </a:r>
          </a:p>
        </p:txBody>
      </p:sp>
      <p:sp>
        <p:nvSpPr>
          <p:cNvPr id="8" name="Rectangle 7"/>
          <p:cNvSpPr/>
          <p:nvPr/>
        </p:nvSpPr>
        <p:spPr>
          <a:xfrm>
            <a:off x="3502152" y="1463040"/>
            <a:ext cx="269748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02152" y="1463040"/>
            <a:ext cx="2697480" cy="109728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2152" y="1691640"/>
            <a:ext cx="26974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1F3864"/>
                </a:solidFill>
              </a:rPr>
              <a:t>83%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2152" y="2377440"/>
            <a:ext cx="269748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C3E50"/>
                </a:solidFill>
              </a:rPr>
              <a:t>Less manual effort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64224" y="1463040"/>
            <a:ext cx="269748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64224" y="1463040"/>
            <a:ext cx="2697480" cy="109728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64224" y="1691640"/>
            <a:ext cx="26974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1F3864"/>
                </a:solidFill>
              </a:rPr>
              <a:t>390 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64224" y="2377440"/>
            <a:ext cx="269748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C3E50"/>
                </a:solidFill>
              </a:rPr>
              <a:t>Saved per year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26296" y="1463040"/>
            <a:ext cx="269748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26296" y="1463040"/>
            <a:ext cx="2697480" cy="109728"/>
          </a:xfrm>
          <a:prstGeom prst="rect">
            <a:avLst/>
          </a:prstGeom>
          <a:solidFill>
            <a:srgbClr val="3A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26296" y="1691640"/>
            <a:ext cx="26974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1F3864"/>
                </a:solidFill>
              </a:rPr>
              <a:t>~$33k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26296" y="2377440"/>
            <a:ext cx="269748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C3E50"/>
                </a:solidFill>
              </a:rPr>
              <a:t>Annual time value*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200400"/>
            <a:ext cx="5394960" cy="265176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200400"/>
            <a:ext cx="5394960" cy="109728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" y="3383280"/>
            <a:ext cx="5065776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F3864"/>
                </a:solidFill>
              </a:rPr>
              <a:t>Transcript processing (~5.8 h/wk)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" y="3913632"/>
            <a:ext cx="5065776" cy="1783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100">
                <a:solidFill>
                  <a:srgbClr val="2C3E50"/>
                </a:solidFill>
              </a:rPr>
              <a:t>•  Read + parse transcript: 1.8 h -&gt; 0.1 h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Identify opportunities: 1.5 h -&gt; 0.2 h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Classify into 40-field schema: 2.0 h -&gt; 0.2 h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Build workbook + payload + reports: 1.0 h -&gt; 0.1 h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QA and review: largely retained (human judgement)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200400"/>
            <a:ext cx="5330952" cy="265176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200400"/>
            <a:ext cx="5330952" cy="109728"/>
          </a:xfrm>
          <a:prstGeom prst="rect">
            <a:avLst/>
          </a:prstGeom>
          <a:solidFill>
            <a:srgbClr val="5D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82512" y="3383280"/>
            <a:ext cx="5001768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F3864"/>
                </a:solidFill>
              </a:rPr>
              <a:t>ADO lifecycle (~1.7 h/wk)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82512" y="3913632"/>
            <a:ext cx="5001768" cy="1783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100">
                <a:solidFill>
                  <a:srgbClr val="2C3E50"/>
                </a:solidFill>
              </a:rPr>
              <a:t>•  Work item creation: ~2.3 h/cycle -&gt; minutes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Status tracking + follow-up: ~1 h/wk -&gt; ~5 min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Traceability lookups: ~20 min/wk -&gt; 0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Dedup-safe re-runs eliminate rework risk</a:t>
            </a:r>
          </a:p>
          <a:p>
            <a:r>
              <a:rPr sz="300">
                <a:solidFill>
                  <a:srgbClr val="2C3E50"/>
                </a:solidFill>
              </a:rPr>
              <a:t/>
            </a:r>
          </a:p>
          <a:p>
            <a:pPr algn="l"/>
            <a:r>
              <a:rPr sz="1100">
                <a:solidFill>
                  <a:srgbClr val="2C3E50"/>
                </a:solidFill>
              </a:rPr>
              <a:t>•  No AI credits - pure REST API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6B7A8D"/>
                </a:solidFill>
              </a:rPr>
              <a:t>* Optional labor-value lens at $85/hr loaded rate. Recurring runtime: ~30 Copilot credits per transcript.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B7A8D"/>
                </a:solidFill>
              </a:rPr>
              <a:t>Electronics AI Working Group  |  AI Transcript Intake Agent  |  Proprietary &amp; Confidential  |  NYSE: AYI  |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1365992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</a:rPr>
              <a:t>How It Scales</a:t>
            </a:r>
          </a:p>
          <a:p>
            <a:pPr algn="l"/>
            <a:r>
              <a:rPr sz="1200" b="0">
                <a:solidFill>
                  <a:srgbClr val="B9C4D1"/>
                </a:solidFill>
              </a:rPr>
              <a:t>Same engine, different domains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08792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C3E50"/>
                </a:solidFill>
              </a:rPr>
              <a:t>The engine is domain-agnostic. The framework lives in config (JSON) and the extraction logic in skills (Markdown). Swap those, point it at different source documents, and it works for a new team.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94560"/>
            <a:ext cx="361188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3611880" cy="9144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359152"/>
            <a:ext cx="324612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F3864"/>
                </a:solidFill>
              </a:rPr>
              <a:t>Sales / CX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724912"/>
            <a:ext cx="32461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47A8BD"/>
                </a:solidFill>
              </a:rPr>
              <a:t>Call transcripts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017520"/>
            <a:ext cx="324612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Extract customer pain points, feature requests, churn signals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2194560"/>
            <a:ext cx="361188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194560"/>
            <a:ext cx="3611880" cy="9144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36008" y="2359152"/>
            <a:ext cx="324612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F3864"/>
                </a:solidFill>
              </a:rPr>
              <a:t>HR / People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36008" y="2724912"/>
            <a:ext cx="32461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E8A838"/>
                </a:solidFill>
              </a:rPr>
              <a:t>Interview &amp; survey notes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36008" y="3017520"/>
            <a:ext cx="324612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Extract themes, sentiment, policy gaps, training needs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194560"/>
            <a:ext cx="361188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194560"/>
            <a:ext cx="3611880" cy="91440"/>
          </a:xfrm>
          <a:prstGeom prst="rect">
            <a:avLst/>
          </a:prstGeom>
          <a:solidFill>
            <a:srgbClr val="C06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30768" y="2359152"/>
            <a:ext cx="324612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F3864"/>
                </a:solidFill>
              </a:rPr>
              <a:t>Engineering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30768" y="2724912"/>
            <a:ext cx="32461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C0604D"/>
                </a:solidFill>
              </a:rPr>
              <a:t>Incident retros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30768" y="3017520"/>
            <a:ext cx="324612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Extract action items, root causes, recurring failure modes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767328"/>
            <a:ext cx="361188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767328"/>
            <a:ext cx="3611880" cy="91440"/>
          </a:xfrm>
          <a:prstGeom prst="rect">
            <a:avLst/>
          </a:prstGeom>
          <a:solidFill>
            <a:srgbClr val="3A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3931920"/>
            <a:ext cx="324612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F3864"/>
                </a:solidFill>
              </a:rPr>
              <a:t>Product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" y="4297680"/>
            <a:ext cx="32461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3A4B5C"/>
                </a:solidFill>
              </a:rPr>
              <a:t>User research sessions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" y="4590288"/>
            <a:ext cx="324612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Extract jobs-to-be-done, usability issues, prioritized asks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3767328"/>
            <a:ext cx="361188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34840" y="3767328"/>
            <a:ext cx="3611880" cy="91440"/>
          </a:xfrm>
          <a:prstGeom prst="rect">
            <a:avLst/>
          </a:prstGeom>
          <a:solidFill>
            <a:srgbClr val="5D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36008" y="3931920"/>
            <a:ext cx="324612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F3864"/>
                </a:solidFill>
              </a:rPr>
              <a:t>Legal / Risk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36008" y="4297680"/>
            <a:ext cx="32461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5DB7A0"/>
                </a:solidFill>
              </a:rPr>
              <a:t>Contract reviews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36008" y="4590288"/>
            <a:ext cx="324612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Extract obligations, risks, non-standard clauses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767328"/>
            <a:ext cx="361188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3767328"/>
            <a:ext cx="3611880" cy="9144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30768" y="3931920"/>
            <a:ext cx="324612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1F3864"/>
                </a:solidFill>
              </a:rPr>
              <a:t>Operations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30768" y="4297680"/>
            <a:ext cx="32461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47A8BD"/>
                </a:solidFill>
              </a:rPr>
              <a:t>Standups &amp; reviews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30768" y="4590288"/>
            <a:ext cx="324612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2C3E50"/>
                </a:solidFill>
              </a:rPr>
              <a:t>Extract blockers, dependencies, process improvements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897880"/>
            <a:ext cx="10908792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What stays the same: ingestion, chunking, draft-only guardrails, human review, trend reporting, and the ADO loop.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B7A8D"/>
                </a:solidFill>
              </a:rPr>
              <a:t>Electronics AI Working Group  |  AI Transcript Intake Agent  |  Proprietary &amp; Confidential  |  NYSE: AYI  |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1365992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</a:rPr>
              <a:t>Adopting It For Your Team</a:t>
            </a:r>
          </a:p>
          <a:p>
            <a:pPr algn="l"/>
            <a:r>
              <a:rPr sz="1200" b="0">
                <a:solidFill>
                  <a:srgbClr val="B9C4D1"/>
                </a:solidFill>
              </a:rPr>
              <a:t>What it takes to stand up a new instance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1645920"/>
            <a:ext cx="310896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1F3864"/>
                </a:solidFill>
              </a:rPr>
              <a:t>Define the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1645920"/>
            <a:ext cx="6885432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2C3E50"/>
                </a:solidFill>
              </a:rPr>
              <a:t>List the dimensions and choice values for your domain in config JSON.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87168"/>
            <a:ext cx="548640" cy="54864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2487168"/>
            <a:ext cx="310896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1F3864"/>
                </a:solidFill>
              </a:rPr>
              <a:t>Write the extraction prompt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2487168"/>
            <a:ext cx="6885432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2C3E50"/>
                </a:solidFill>
              </a:rPr>
              <a:t>One skill file describing what an 'opportunity' looks like for you.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328416"/>
            <a:ext cx="548640" cy="54864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3328416"/>
            <a:ext cx="310896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1F3864"/>
                </a:solidFill>
              </a:rPr>
              <a:t>Point at your sources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3328416"/>
            <a:ext cx="6885432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2C3E50"/>
                </a:solidFill>
              </a:rPr>
              <a:t>Drop your transcripts / notes / docs into the input folder.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169664"/>
            <a:ext cx="548640" cy="54864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40" y="4169664"/>
            <a:ext cx="310896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1F3864"/>
                </a:solidFill>
              </a:rPr>
              <a:t>Run &amp; review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4169664"/>
            <a:ext cx="6885432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2C3E50"/>
                </a:solidFill>
              </a:rPr>
              <a:t>The same pipeline produces drafts; a human reviews them.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010912"/>
            <a:ext cx="548640" cy="54864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5010912"/>
            <a:ext cx="310896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1F3864"/>
                </a:solidFill>
              </a:rPr>
              <a:t>Wire your tracker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5010912"/>
            <a:ext cx="6885432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2C3E50"/>
                </a:solidFill>
              </a:rPr>
              <a:t>Map outputs to ADO, Jira, SharePoint - whatever closes your loop.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897880"/>
            <a:ext cx="10908792" cy="457200"/>
          </a:xfrm>
          <a:prstGeom prst="rect">
            <a:avLst/>
          </a:prstGeom>
          <a:solidFill>
            <a:srgbClr val="5D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No new infrastructure. Runs locally on an existing Copilot subscription. Governed by human review end to end.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B7A8D"/>
                </a:solidFill>
              </a:rPr>
              <a:t>Electronics AI Working Group  |  AI Transcript Intake Agent  |  Proprietary &amp; Confidential  |  NYSE: AYI  |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7A8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463040"/>
            <a:ext cx="10543032" cy="10972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400" b="1">
                <a:solidFill>
                  <a:srgbClr val="FFFFFF"/>
                </a:solidFill>
              </a:rPr>
              <a:t>Recap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651760"/>
            <a:ext cx="10543032" cy="2468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600">
                <a:solidFill>
                  <a:srgbClr val="B9C4D1"/>
                </a:solidFill>
              </a:rPr>
              <a:t>-  Turns weekly meeting talk into structured, classified, reviewable opportunities</a:t>
            </a:r>
          </a:p>
          <a:p>
            <a:r>
              <a:rPr sz="800">
                <a:solidFill>
                  <a:srgbClr val="B9C4D1"/>
                </a:solidFill>
              </a:rPr>
              <a:t/>
            </a:r>
          </a:p>
          <a:p>
            <a:pPr algn="l"/>
            <a:r>
              <a:rPr sz="1600">
                <a:solidFill>
                  <a:srgbClr val="B9C4D1"/>
                </a:solidFill>
              </a:rPr>
              <a:t>-  Saves ~7.5 hours/week (~390 hours/year) versus doing it by hand</a:t>
            </a:r>
          </a:p>
          <a:p>
            <a:r>
              <a:rPr sz="800">
                <a:solidFill>
                  <a:srgbClr val="B9C4D1"/>
                </a:solidFill>
              </a:rPr>
              <a:t/>
            </a:r>
          </a:p>
          <a:p>
            <a:pPr algn="l"/>
            <a:r>
              <a:rPr sz="1600">
                <a:solidFill>
                  <a:srgbClr val="B9C4D1"/>
                </a:solidFill>
              </a:rPr>
              <a:t>-  Closes the loop with Azure DevOps - discussion becomes tracked execution</a:t>
            </a:r>
          </a:p>
          <a:p>
            <a:r>
              <a:rPr sz="800">
                <a:solidFill>
                  <a:srgbClr val="B9C4D1"/>
                </a:solidFill>
              </a:rPr>
              <a:t/>
            </a:r>
          </a:p>
          <a:p>
            <a:pPr algn="l"/>
            <a:r>
              <a:rPr sz="1600">
                <a:solidFill>
                  <a:srgbClr val="B9C4D1"/>
                </a:solidFill>
              </a:rPr>
              <a:t>-  Human-in-the-loop and draft-only at every step - safe by design</a:t>
            </a:r>
          </a:p>
          <a:p>
            <a:r>
              <a:rPr sz="800">
                <a:solidFill>
                  <a:srgbClr val="B9C4D1"/>
                </a:solidFill>
              </a:rPr>
              <a:t/>
            </a:r>
          </a:p>
          <a:p>
            <a:pPr algn="l"/>
            <a:r>
              <a:rPr sz="1600">
                <a:solidFill>
                  <a:srgbClr val="B9C4D1"/>
                </a:solidFill>
              </a:rPr>
              <a:t>-  Domain-agnostic - swap the config to serve any team or extraction 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86400"/>
            <a:ext cx="10543032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E8A838"/>
                </a:solidFill>
              </a:rPr>
              <a:t>Want it for your team? Let's talk.   -   David High (DK High)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B7A8D"/>
                </a:solidFill>
              </a:rPr>
              <a:t>Electronics AI Working Group  |  AI Transcript Intake Agent  |  Proprietary &amp; Confidential  |  NYSE: AYI  |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560320"/>
            <a:ext cx="10543032" cy="1463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4400" b="1">
                <a:solidFill>
                  <a:srgbClr val="FFFFFF"/>
                </a:solidFill>
              </a:rPr>
              <a:t>Thank you</a:t>
            </a:r>
          </a:p>
          <a:p>
            <a:pPr algn="l"/>
            <a:r>
              <a:rPr sz="2000" b="0">
                <a:solidFill>
                  <a:srgbClr val="47A8BD"/>
                </a:solidFill>
              </a:rPr>
              <a:t>Questions &amp;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6B7A8D"/>
                </a:solidFill>
              </a:rPr>
              <a:t>Electronics AI Working Group  |  AI Transcript Intake Agent  |  Proprietary &amp; Confidential  |  NYSE: AYI  | 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